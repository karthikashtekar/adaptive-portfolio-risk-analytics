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c0d481024_4_38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c0d481024_4_38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c0d481024_4_389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c0d481024_4_38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c0d481024_4_39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c0d481024_4_39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Walk through the pipeline from left to right, top to bottom. Each stage feeds the next.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Adjusted close is crucial. Without it, corporate actions cause artificial return spikes. Winsorization prevents outliers from distorting covariance.</a:t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Correlation standardizes covariance. Distance converts correlation for hierarchical clustering. Low correlation assets add genuine diversification.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covariance factory is a key design feature. Sensitivity experiments test all four estimators, demonstrating how model risk affects allocation outcomes.</a:t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EW is the benchmark. HRP and HERC are the main novel strategies. HRP uses quasi-diagonalization; HERC traverses the explicit tree.</a:t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difference: HRP uses quasi-diagonal ordering then recursive bisection by cluster variance. HERC traverses the explicit tree and equalizes sibling branch risk.</a:t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c0d481024_0_19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c0d481024_0_1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Walk-forward testing is the gold standard for avoiding look-ahead bias. The model walks through history, updating weights using only past information.</a:t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Calmar is the default ranking metric because it balances growth and worst loss. Risk-adjusted metrics tell a more complete story than raw CAGR.</a:t>
            </a:r>
            <a:endParaRPr/>
          </a:p>
        </p:txBody>
      </p:sp>
      <p:sp>
        <p:nvSpPr>
          <p:cNvPr id="291" name="Google Shape;29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Volatility targeting is a key risk management layer. It separates WHAT to hold (HRP/HERC) from HOW MUCH to hold. During crises, it cuts risky exposure to 3% target vol.</a:t>
            </a:r>
            <a:endParaRPr/>
          </a:p>
        </p:txBody>
      </p:sp>
      <p:sp>
        <p:nvSpPr>
          <p:cNvPr id="321" name="Google Shape;32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c0d481024_0_2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c0d481024_0_2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HERC with EWMA+Ledoit-Wolf covariance and 20% threshold rebalancing is the top configuration. All experiments have volatility targeting enabled.</a:t>
            </a:r>
            <a:endParaRPr/>
          </a:p>
        </p:txBody>
      </p:sp>
      <p:sp>
        <p:nvSpPr>
          <p:cNvPr id="367" name="Google Shape;36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 contribution is the explanation layer. It answers not just 'which strategy performs better' but WHY a strategy's risk behaves differently from its capital allocation.</a:t>
            </a:r>
            <a:endParaRPr/>
          </a:p>
        </p:txBody>
      </p:sp>
      <p:sp>
        <p:nvSpPr>
          <p:cNvPr id="430" name="Google Shape;43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learnings connect financial theory to practical implementation. Portfolio management is about understanding, measuring, and controlling risk — not just maximizing return.</a:t>
            </a:r>
            <a:endParaRPr/>
          </a:p>
        </p:txBody>
      </p:sp>
      <p:sp>
        <p:nvSpPr>
          <p:cNvPr id="453" name="Google Shape;45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Streamlit dashboard ties everything together. Users can run experiments interactively and see ranked results.</a:t>
            </a:r>
            <a:endParaRPr/>
          </a:p>
        </p:txBody>
      </p:sp>
      <p:sp>
        <p:nvSpPr>
          <p:cNvPr id="478" name="Google Shape;47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 framing: 'We have built the core portfolio construction, analytics, backtesting, and volatility-targeting platform. Regime detection and NLP are planned extensions.'</a:t>
            </a:r>
            <a:endParaRPr/>
          </a:p>
        </p:txBody>
      </p:sp>
      <p:sp>
        <p:nvSpPr>
          <p:cNvPr id="501" name="Google Shape;50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Closing slide. Key message: strong research infrastructure, defensible framing, clear future path.</a:t>
            </a:r>
            <a:endParaRPr/>
          </a:p>
        </p:txBody>
      </p:sp>
      <p:sp>
        <p:nvSpPr>
          <p:cNvPr id="532" name="Google Shape;53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A2B5F"/>
                </a:solidFill>
                <a:latin typeface="Cambria"/>
                <a:ea typeface="Cambria"/>
                <a:cs typeface="Cambria"/>
                <a:sym typeface="Cambria"/>
              </a:rPr>
              <a:t>End-to-End Project Pipeline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274320" y="1005840"/>
            <a:ext cx="1920240" cy="914400"/>
          </a:xfrm>
          <a:prstGeom prst="roundRect">
            <a:avLst>
              <a:gd fmla="val 1000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74320" y="10058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2194560" y="14630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1A2B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7"/>
          <p:cNvSpPr/>
          <p:nvPr/>
        </p:nvSpPr>
        <p:spPr>
          <a:xfrm>
            <a:off x="2176272" y="1261872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2423160" y="1005840"/>
            <a:ext cx="1920240" cy="914400"/>
          </a:xfrm>
          <a:prstGeom prst="roundRect">
            <a:avLst>
              <a:gd fmla="val 10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2423160" y="10058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Cleaning &amp;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>
            <a:off x="4343400" y="14630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1A2B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7"/>
          <p:cNvSpPr/>
          <p:nvPr/>
        </p:nvSpPr>
        <p:spPr>
          <a:xfrm>
            <a:off x="54610" y="1245108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572000" y="1005840"/>
            <a:ext cx="1920240" cy="914400"/>
          </a:xfrm>
          <a:prstGeom prst="roundRect">
            <a:avLst>
              <a:gd fmla="val 10000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572000" y="10058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&amp;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Covariance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>
            <a:off x="6492240" y="14630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1A2B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7"/>
          <p:cNvSpPr/>
          <p:nvPr/>
        </p:nvSpPr>
        <p:spPr>
          <a:xfrm>
            <a:off x="6720840" y="1005840"/>
            <a:ext cx="1920240" cy="914400"/>
          </a:xfrm>
          <a:prstGeom prst="roundRect">
            <a:avLst>
              <a:gd fmla="val 10000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720840" y="10058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>
            <a:off x="8321040" y="1920240"/>
            <a:ext cx="0" cy="475488"/>
          </a:xfrm>
          <a:prstGeom prst="straightConnector1">
            <a:avLst/>
          </a:prstGeom>
          <a:noFill/>
          <a:ln cap="flat" cmpd="sng" w="25400">
            <a:solidFill>
              <a:srgbClr val="1A2B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7"/>
          <p:cNvSpPr/>
          <p:nvPr/>
        </p:nvSpPr>
        <p:spPr>
          <a:xfrm>
            <a:off x="8138160" y="2148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720840" y="2331720"/>
            <a:ext cx="1920240" cy="914400"/>
          </a:xfrm>
          <a:prstGeom prst="roundRect">
            <a:avLst>
              <a:gd fmla="val 1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720840" y="233172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7"/>
          <p:cNvCxnSpPr/>
          <p:nvPr/>
        </p:nvCxnSpPr>
        <p:spPr>
          <a:xfrm>
            <a:off x="6492240" y="278892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1A2B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7"/>
          <p:cNvSpPr/>
          <p:nvPr/>
        </p:nvSpPr>
        <p:spPr>
          <a:xfrm>
            <a:off x="6446520" y="2606040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572000" y="2331720"/>
            <a:ext cx="1920240" cy="914400"/>
          </a:xfrm>
          <a:prstGeom prst="roundRect">
            <a:avLst>
              <a:gd fmla="val 10000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572000" y="233172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Backtesting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7"/>
          <p:cNvCxnSpPr/>
          <p:nvPr/>
        </p:nvCxnSpPr>
        <p:spPr>
          <a:xfrm>
            <a:off x="4343400" y="278892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1A2B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7"/>
          <p:cNvSpPr/>
          <p:nvPr/>
        </p:nvSpPr>
        <p:spPr>
          <a:xfrm>
            <a:off x="4297680" y="2606040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423160" y="2331720"/>
            <a:ext cx="1920240" cy="914400"/>
          </a:xfrm>
          <a:prstGeom prst="roundRect">
            <a:avLst>
              <a:gd fmla="val 10000" name="adj"/>
            </a:avLst>
          </a:prstGeom>
          <a:solidFill>
            <a:srgbClr val="DB2777"/>
          </a:solidFill>
          <a:ln cap="flat" cmpd="sng" w="12700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2423160" y="233172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 &amp;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7"/>
          <p:cNvCxnSpPr/>
          <p:nvPr/>
        </p:nvCxnSpPr>
        <p:spPr>
          <a:xfrm>
            <a:off x="2194560" y="278892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1A2B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7"/>
          <p:cNvSpPr/>
          <p:nvPr/>
        </p:nvSpPr>
        <p:spPr>
          <a:xfrm>
            <a:off x="2148840" y="2606040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74320" y="2331720"/>
            <a:ext cx="1920240" cy="914400"/>
          </a:xfrm>
          <a:prstGeom prst="roundRect">
            <a:avLst>
              <a:gd fmla="val 1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274320" y="233172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&amp;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stage depends on the previous. Errors propagate — clean data is foundational.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 rot="10800000">
            <a:off x="1997710" y="2597659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Acquisition &amp; Preprocessing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20040" y="960120"/>
            <a:ext cx="4160520" cy="1783080"/>
          </a:xfrm>
          <a:prstGeom prst="roundRect">
            <a:avLst>
              <a:gd fmla="val 5128" name="adj"/>
            </a:avLst>
          </a:prstGeom>
          <a:solidFill>
            <a:srgbClr val="548135">
              <a:alpha val="92156"/>
            </a:srgbClr>
          </a:solidFill>
          <a:ln cap="flat" cmpd="sng" w="10150">
            <a:solidFill>
              <a:srgbClr val="38562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📡  Yahoo Finance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57200" y="1490472"/>
            <a:ext cx="3886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Adjusted close prices (accounts for dividends, splits, bonuses). Date range: 2020–2025.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709160" y="960120"/>
            <a:ext cx="4160520" cy="1783080"/>
          </a:xfrm>
          <a:prstGeom prst="roundRect">
            <a:avLst>
              <a:gd fmla="val 5128" name="adj"/>
            </a:avLst>
          </a:prstGeom>
          <a:solidFill>
            <a:srgbClr val="C55A11">
              <a:alpha val="92156"/>
            </a:srgbClr>
          </a:solidFill>
          <a:ln cap="flat" cmpd="sng" w="10150">
            <a:solidFill>
              <a:srgbClr val="833C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846320" y="10515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🔢  Simple &amp; Log Returns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846320" y="1490472"/>
            <a:ext cx="3886200" cy="11704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20040" y="2926080"/>
            <a:ext cx="4160520" cy="1783080"/>
          </a:xfrm>
          <a:prstGeom prst="roundRect">
            <a:avLst>
              <a:gd fmla="val 5128" name="adj"/>
            </a:avLst>
          </a:prstGeom>
          <a:solidFill>
            <a:srgbClr val="323F4F">
              <a:alpha val="92156"/>
            </a:srgbClr>
          </a:solidFill>
          <a:ln cap="flat" cmpd="sng" w="10150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🧹  Data Cleaning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57200" y="3456432"/>
            <a:ext cx="3886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 assets &gt; 5% missing  ·  Anomaly detection (|log return| &gt; 0.50)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Forward-fill · Winsorize returns [−20%, +20%]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709160" y="2926080"/>
            <a:ext cx="4160520" cy="1783080"/>
          </a:xfrm>
          <a:prstGeom prst="roundRect">
            <a:avLst>
              <a:gd fmla="val 5128" name="adj"/>
            </a:avLst>
          </a:prstGeom>
          <a:solidFill>
            <a:srgbClr val="7030A0">
              <a:alpha val="92156"/>
            </a:srgbClr>
          </a:solidFill>
          <a:ln cap="flat" cmpd="sng" w="10150">
            <a:solidFill>
              <a:srgbClr val="78038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846320" y="301752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📐  Annualized Volatility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846320" y="3456432"/>
            <a:ext cx="3886200" cy="11704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A2B5F"/>
                </a:solidFill>
                <a:latin typeface="Cambria"/>
                <a:ea typeface="Cambria"/>
                <a:cs typeface="Cambria"/>
                <a:sym typeface="Cambria"/>
              </a:rPr>
              <a:t>Risk Measurement: Covariance, Correlation &amp; Distance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74320" y="960120"/>
            <a:ext cx="2743200" cy="3291840"/>
          </a:xfrm>
          <a:prstGeom prst="roundRect">
            <a:avLst>
              <a:gd fmla="val 3333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65760" y="10515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Covariance  Σij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65760" y="1572768"/>
            <a:ext cx="2560320" cy="548640"/>
          </a:xfrm>
          <a:prstGeom prst="rect">
            <a:avLst/>
          </a:prstGeom>
          <a:solidFill>
            <a:srgbClr val="1E4E79">
              <a:alpha val="85098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65760" y="1572768"/>
            <a:ext cx="2560320" cy="5486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365760" y="2212848"/>
            <a:ext cx="2560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Measures co-movement of two asset returns in return units. Positive = move together.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200400" y="960120"/>
            <a:ext cx="2743200" cy="3291840"/>
          </a:xfrm>
          <a:prstGeom prst="roundRect">
            <a:avLst>
              <a:gd fmla="val 3333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291840" y="10515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  ρij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291840" y="1572768"/>
            <a:ext cx="2560320" cy="548640"/>
          </a:xfrm>
          <a:prstGeom prst="rect">
            <a:avLst/>
          </a:prstGeom>
          <a:solidFill>
            <a:srgbClr val="548135">
              <a:alpha val="85098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291840" y="1572768"/>
            <a:ext cx="2560320" cy="5486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3291840" y="2212848"/>
            <a:ext cx="2560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Standardized between –1 and +1. Banking stocks: ρ ≈ 0.80. Gold vs equity: ρ ≈ 0.10.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126480" y="960120"/>
            <a:ext cx="2743200" cy="3291840"/>
          </a:xfrm>
          <a:prstGeom prst="roundRect">
            <a:avLst>
              <a:gd fmla="val 3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217920" y="10515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Distance  dij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217920" y="1572768"/>
            <a:ext cx="2560320" cy="548640"/>
          </a:xfrm>
          <a:prstGeom prst="rect">
            <a:avLst/>
          </a:prstGeom>
          <a:solidFill>
            <a:srgbClr val="78038F">
              <a:alpha val="85098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217920" y="1572768"/>
            <a:ext cx="2560320" cy="54864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11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6217920" y="2212848"/>
            <a:ext cx="2560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Converts correlation to a metric for hierarchical clustering. Low ρ → high distance.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74320" y="4343400"/>
            <a:ext cx="8595360" cy="502920"/>
          </a:xfrm>
          <a:prstGeom prst="roundRect">
            <a:avLst>
              <a:gd fmla="val 10909" name="adj"/>
            </a:avLst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Key Insight: Portfolio risk ≠ weighted average of individual risks. Covariance between assets drives overall portfolio risk.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Covariance Estimation Engine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434" l="-7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274320" y="1234440"/>
            <a:ext cx="4114800" cy="1572768"/>
          </a:xfrm>
          <a:prstGeom prst="roundRect">
            <a:avLst>
              <a:gd fmla="val 5814" name="adj"/>
            </a:avLst>
          </a:prstGeom>
          <a:solidFill>
            <a:srgbClr val="1D4ED8">
              <a:alpha val="74901"/>
            </a:srgbClr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84048" y="13075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Covariance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84048" y="17373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✅  Simple, easy to understand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84048" y="21945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Noisy in small samples; sensitive to crises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617720" y="1234440"/>
            <a:ext cx="4114800" cy="1572768"/>
          </a:xfrm>
          <a:prstGeom prst="roundRect">
            <a:avLst>
              <a:gd fmla="val 5814" name="adj"/>
            </a:avLst>
          </a:prstGeom>
          <a:solidFill>
            <a:srgbClr val="7C3AED">
              <a:alpha val="7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727448" y="13075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Ledoit-Wolf Shrinkage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727448" y="17373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✅  Pulls noisy estimates toward stable target (δ)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727448" y="21945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Fixed shrinkage; no recency weighting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74320" y="2971800"/>
            <a:ext cx="4114800" cy="1572768"/>
          </a:xfrm>
          <a:prstGeom prst="roundRect">
            <a:avLst>
              <a:gd fmla="val 5814" name="adj"/>
            </a:avLst>
          </a:prstGeom>
          <a:solidFill>
            <a:srgbClr val="0D9488">
              <a:alpha val="7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84048" y="30449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EWMA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84048" y="3474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✅  Recent observations weighted more (span=252)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84048" y="39319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No regularization; can be noisy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617720" y="2971800"/>
            <a:ext cx="4114800" cy="1572768"/>
          </a:xfrm>
          <a:prstGeom prst="roundRect">
            <a:avLst>
              <a:gd fmla="val 5814" name="adj"/>
            </a:avLst>
          </a:prstGeom>
          <a:solidFill>
            <a:srgbClr val="F59E0B">
              <a:alpha val="7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727448" y="30449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EWMA + Ledoit-Wolf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727448" y="3474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✅  Combines recency with regularization — BEST OF BOTH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727448" y="39319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Slightly more complex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A2B5F"/>
                </a:solidFill>
                <a:latin typeface="Cambria"/>
                <a:ea typeface="Cambria"/>
                <a:cs typeface="Cambria"/>
                <a:sym typeface="Cambria"/>
              </a:rPr>
              <a:t>5 Portfolio Construction Strategies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274320" y="1033272"/>
            <a:ext cx="502920" cy="502920"/>
          </a:xfrm>
          <a:prstGeom prst="ellipse">
            <a:avLst/>
          </a:prstGeom>
          <a:solidFill>
            <a:srgbClr val="374151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74320" y="10332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914400" y="960120"/>
            <a:ext cx="78638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005840" y="10058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Equal Weight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005840" y="132588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wi = 1/N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749040" y="1069848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Default benchmark · No estimation needed · Hard to overfit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274320" y="1837944"/>
            <a:ext cx="502920" cy="502920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4320" y="18379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914400" y="1764792"/>
            <a:ext cx="78638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005840" y="181051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Inverse Volatility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1005840" y="213055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wi = (1/σi) / Σ(1/σj)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749040" y="1874520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Lower-volatility assets get more weight · Risk-aware without covariance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274320" y="2642616"/>
            <a:ext cx="502920" cy="50292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74320" y="26426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914400" y="2569464"/>
            <a:ext cx="78638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1005840" y="261518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Mean-Variance / Max-Sharpe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005840" y="293522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max wᵀμ / √(wᵀΣw)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749040" y="2679192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Theoretically powerful but sensitive to return estimates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74320" y="3447288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74320" y="3447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914400" y="3374136"/>
            <a:ext cx="78638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005840" y="341985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HRP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005840" y="373989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Recursive by cluster variance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749040" y="3483864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Uses hierarchical clustering · Stable · No return forecasting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74320" y="4251960"/>
            <a:ext cx="502920" cy="50292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74320" y="4251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914400" y="4178808"/>
            <a:ext cx="78638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005840" y="422452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HERC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005840" y="454456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Recursive by branch risk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749040" y="4288536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Equalizes risk contribution across tree branches · More direct risk budgeting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HRP vs HERC — Hierarchical Allocation Deep Dive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74320" y="868680"/>
            <a:ext cx="4160520" cy="3931920"/>
          </a:xfrm>
          <a:prstGeom prst="roundRect">
            <a:avLst>
              <a:gd fmla="val 2326" name="adj"/>
            </a:avLst>
          </a:prstGeom>
          <a:solidFill>
            <a:srgbClr val="0D9488">
              <a:alpha val="8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411480" y="98755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HRP — Hierarchical Risk Parity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11480" y="15361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Estimate covariance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411480" y="19385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Convert to correlation &amp; distance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11480" y="23408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Build hierarchical cluster tree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411480" y="2743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Quasi-diagonalize asset order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411480" y="314553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Recursively bisect clusters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11480" y="354787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Allocate inversely by cluster variance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11480" y="3895344"/>
            <a:ext cx="3840600" cy="292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5417" l="0" r="0" t="-187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411480" y="4361688"/>
            <a:ext cx="3840480" cy="29260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5417" l="0" r="0" t="-208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4709160" y="868680"/>
            <a:ext cx="4160520" cy="3931920"/>
          </a:xfrm>
          <a:prstGeom prst="roundRect">
            <a:avLst>
              <a:gd fmla="val 2326" name="adj"/>
            </a:avLst>
          </a:prstGeom>
          <a:solidFill>
            <a:srgbClr val="D97706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846320" y="98755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HERC — Hierarchical ERC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846320" y="153619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Same covariance &amp; clustering steps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846320" y="203911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Traverse explicit linkage tree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846320" y="254203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At each node: compute branch risk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4846320" y="304495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Equalize risk contribution between sibling branches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4846320" y="3659605"/>
            <a:ext cx="3840480" cy="29260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0833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4846320" y="4129957"/>
            <a:ext cx="3840480" cy="29260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0833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3258"/>
            <a:ext cx="9143998" cy="4534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A2B5F"/>
                </a:solidFill>
                <a:latin typeface="Cambria"/>
                <a:ea typeface="Cambria"/>
                <a:cs typeface="Cambria"/>
                <a:sym typeface="Cambria"/>
              </a:rPr>
              <a:t>Walk-Forward Backtesting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365760" y="1463040"/>
            <a:ext cx="8412480" cy="54864"/>
          </a:xfrm>
          <a:prstGeom prst="rect">
            <a:avLst/>
          </a:prstGeom>
          <a:solidFill>
            <a:srgbClr val="1A2B5F"/>
          </a:solidFill>
          <a:ln cap="flat" cmpd="sng" w="12700">
            <a:solidFill>
              <a:srgbClr val="1A2B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365760" y="867804"/>
            <a:ext cx="3200400" cy="548640"/>
          </a:xfrm>
          <a:prstGeom prst="roundRect">
            <a:avLst>
              <a:gd fmla="val 8333" name="adj"/>
            </a:avLst>
          </a:prstGeom>
          <a:solidFill>
            <a:srgbClr val="1D4ED8">
              <a:alpha val="74901"/>
            </a:srgbClr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11480" y="892316"/>
            <a:ext cx="3108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Training Window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(252 days)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3657600" y="867810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0D9488">
              <a:alpha val="7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703320" y="886098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Period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apply weights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5577840" y="867805"/>
            <a:ext cx="2834640" cy="548640"/>
          </a:xfrm>
          <a:prstGeom prst="roundRect">
            <a:avLst>
              <a:gd fmla="val 8333" name="adj"/>
            </a:avLst>
          </a:prstGeom>
          <a:solidFill>
            <a:srgbClr val="7C3AED">
              <a:alpha val="7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5623560" y="886093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Slide Forward →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320040" y="2103120"/>
            <a:ext cx="41148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429768" y="217627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🔒  No Look-Ahead Bias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429768" y="2615184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Only past data used to make decisions. Exposure at day t uses information up to day t−1.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4663440" y="2103120"/>
            <a:ext cx="41148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4773168" y="2176272"/>
            <a:ext cx="3840480" cy="3840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54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4773168" y="2615184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Portfolio return is previous weights dot current returns — decision always precedes outcome.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320040" y="3566160"/>
            <a:ext cx="41148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429768" y="363931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🔄  3 Rebalance Modes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429768" y="4078224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Calendar · Threshold (drift ≥ 3/5/10/20%) · Calendar-or-Threshold — tested in experiments.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4663440" y="3566160"/>
            <a:ext cx="41148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4773168" y="363931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💰  Gross vs Net Value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4773168" y="4078224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Transaction costs (15 bps default = 10 base + 5 slippage) deducted on net portfolio value.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Performance &amp; Risk Metrics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274320" y="960120"/>
            <a:ext cx="2743200" cy="1737360"/>
          </a:xfrm>
          <a:prstGeom prst="roundRect">
            <a:avLst>
              <a:gd fmla="val 5263" name="adj"/>
            </a:avLst>
          </a:prstGeom>
          <a:solidFill>
            <a:srgbClr val="1D4ED8">
              <a:alpha val="70196"/>
            </a:srgbClr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CAGR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365760" y="1481328"/>
            <a:ext cx="2560320" cy="3840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6830" l="0" r="0" t="-1269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7" name="Google Shape;297;p25"/>
          <p:cNvSpPr/>
          <p:nvPr/>
        </p:nvSpPr>
        <p:spPr>
          <a:xfrm>
            <a:off x="365760" y="194767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Annualized compound growth rate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3200400" y="960120"/>
            <a:ext cx="2743200" cy="1737360"/>
          </a:xfrm>
          <a:prstGeom prst="roundRect">
            <a:avLst>
              <a:gd fmla="val 5263" name="adj"/>
            </a:avLst>
          </a:prstGeom>
          <a:solidFill>
            <a:srgbClr val="0D9488">
              <a:alpha val="7019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Sharpe Ratio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3291840" y="1481328"/>
            <a:ext cx="2560320" cy="3840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3291840" y="194767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Return per unit of total risk (higher = better)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6126480" y="960120"/>
            <a:ext cx="2743200" cy="1737360"/>
          </a:xfrm>
          <a:prstGeom prst="roundRect">
            <a:avLst>
              <a:gd fmla="val 5263" name="adj"/>
            </a:avLst>
          </a:prstGeom>
          <a:solidFill>
            <a:srgbClr val="7C3AED">
              <a:alpha val="70196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6217920" y="1051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Sortino Ratio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6217920" y="148132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Excess return / Downside deviation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6217920" y="194767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Penalizes only downside volatility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274320" y="2880360"/>
            <a:ext cx="2743200" cy="1737360"/>
          </a:xfrm>
          <a:prstGeom prst="roundRect">
            <a:avLst>
              <a:gd fmla="val 5263" name="adj"/>
            </a:avLst>
          </a:prstGeom>
          <a:solidFill>
            <a:srgbClr val="F59E0B">
              <a:alpha val="7019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365760" y="29718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Calmar Ratio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365760" y="3401568"/>
            <a:ext cx="2560320" cy="3840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365760" y="386791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Growth vs worst peak-to-trough loss (default ranking metric)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3200400" y="2880360"/>
            <a:ext cx="2743200" cy="1737360"/>
          </a:xfrm>
          <a:prstGeom prst="roundRect">
            <a:avLst>
              <a:gd fmla="val 5263" name="adj"/>
            </a:avLst>
          </a:prstGeom>
          <a:solidFill>
            <a:srgbClr val="DC2626">
              <a:alpha val="70196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3291840" y="29718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 Drawdown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3291840" y="3401568"/>
            <a:ext cx="2560320" cy="38404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3291840" y="386791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Worst peak-to-trough portfolio decline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6126480" y="2880360"/>
            <a:ext cx="2743200" cy="1737360"/>
          </a:xfrm>
          <a:prstGeom prst="roundRect">
            <a:avLst>
              <a:gd fmla="val 5263" name="adj"/>
            </a:avLst>
          </a:prstGeom>
          <a:solidFill>
            <a:srgbClr val="DB2777">
              <a:alpha val="70196"/>
            </a:srgbClr>
          </a:solidFill>
          <a:ln cap="flat" cmpd="sng" w="12700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6217920" y="29718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 / CVaR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6217920" y="340156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5th pctile / E[r | r ≤ VaR]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6217920" y="386791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Tail risk: threshold and expected shortfall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A2B5F"/>
                </a:solidFill>
                <a:latin typeface="Cambria"/>
                <a:ea typeface="Cambria"/>
                <a:cs typeface="Cambria"/>
                <a:sym typeface="Cambria"/>
              </a:rPr>
              <a:t>Volatility Targeting Overlay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274320" y="960120"/>
            <a:ext cx="45720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411480" y="100584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411480" y="1417320"/>
            <a:ext cx="42976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Adjusts how much of the portfolio goes into the risky strategy vs a defensive sleeve (LIQUIDBEES / Synthetic Risk-Free).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274320" y="2240280"/>
            <a:ext cx="45720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411480" y="228600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Exposure Formula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411480" y="2697480"/>
            <a:ext cx="4297680" cy="6217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1570" l="-2128" r="0" t="-49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274320" y="3520440"/>
            <a:ext cx="45720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11480" y="356616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No Look-Ahead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411480" y="3977640"/>
            <a:ext cx="42976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Realized volatility is lagged by 1 day. Exposure at day t uses only information through t−1.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5166360" y="1289797"/>
            <a:ext cx="3657600" cy="3383280"/>
          </a:xfrm>
          <a:prstGeom prst="roundRect">
            <a:avLst>
              <a:gd fmla="val 2703" name="adj"/>
            </a:avLst>
          </a:prstGeom>
          <a:solidFill>
            <a:srgbClr val="1A2B5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5257800" y="1381237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Adaptive Regime Targets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5257800" y="1884157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Regime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6446520" y="1884157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Percentile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7635240" y="1884157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Target Vol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5257800" y="2249917"/>
            <a:ext cx="3429000" cy="475488"/>
          </a:xfrm>
          <a:prstGeom prst="roundRect">
            <a:avLst>
              <a:gd fmla="val 9615" name="adj"/>
            </a:avLst>
          </a:prstGeom>
          <a:solidFill>
            <a:srgbClr val="10B981">
              <a:alpha val="45098"/>
            </a:srgbClr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5257800" y="2249917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6446520" y="2249917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≤ 40th pct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7635240" y="2249917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5257800" y="2816845"/>
            <a:ext cx="3429000" cy="475488"/>
          </a:xfrm>
          <a:prstGeom prst="roundRect">
            <a:avLst>
              <a:gd fmla="val 9615" name="adj"/>
            </a:avLst>
          </a:prstGeom>
          <a:solidFill>
            <a:srgbClr val="0D9488">
              <a:alpha val="45098"/>
            </a:srgbClr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5257800" y="2816845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6446520" y="2816845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40–80th pct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7635240" y="2816845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5257800" y="3383773"/>
            <a:ext cx="3429000" cy="475488"/>
          </a:xfrm>
          <a:prstGeom prst="roundRect">
            <a:avLst>
              <a:gd fmla="val 9615" name="adj"/>
            </a:avLst>
          </a:prstGeom>
          <a:solidFill>
            <a:srgbClr val="F59E0B">
              <a:alpha val="45098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5257800" y="3383773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6446520" y="3383773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80–95th pct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7635240" y="3383773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5257800" y="3950701"/>
            <a:ext cx="3429000" cy="475488"/>
          </a:xfrm>
          <a:prstGeom prst="roundRect">
            <a:avLst>
              <a:gd fmla="val 9615" name="adj"/>
            </a:avLst>
          </a:prstGeom>
          <a:solidFill>
            <a:srgbClr val="EF4444">
              <a:alpha val="45098"/>
            </a:srgbClr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5257800" y="3950701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6446520" y="3950701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 95th pct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7635240" y="3950701"/>
            <a:ext cx="117043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5202936" y="4737085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Rule-based regimes using lagged realised volatility percentile — not full Markov-switching (planned future work)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8209" y="455755"/>
            <a:ext cx="3460622" cy="75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4" y="51349"/>
            <a:ext cx="8991599" cy="359353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7"/>
          <p:cNvSpPr/>
          <p:nvPr/>
        </p:nvSpPr>
        <p:spPr>
          <a:xfrm>
            <a:off x="123279" y="2166549"/>
            <a:ext cx="8820000" cy="242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7"/>
          <p:cNvSpPr/>
          <p:nvPr/>
        </p:nvSpPr>
        <p:spPr>
          <a:xfrm>
            <a:off x="123279" y="1078499"/>
            <a:ext cx="8872200" cy="242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54" y="3644874"/>
            <a:ext cx="8991599" cy="13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Sensitivity Experiment Results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Ranked by Calmar Ratio  |  All experiments: Vol Targeting ON  |  10 bps base + 5 bps slippage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274320" y="1234440"/>
            <a:ext cx="8595360" cy="384048"/>
          </a:xfrm>
          <a:prstGeom prst="roundRect">
            <a:avLst>
              <a:gd fmla="val 14286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274320" y="1234440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777240" y="1234440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1645920" y="12344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 Method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3108960" y="123444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Rebalance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4434840" y="1234440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CAGR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5212080" y="1234440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Sharpe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5989320" y="1234440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Calmar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6766560" y="1234440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 DD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274320" y="1691640"/>
            <a:ext cx="8595360" cy="438912"/>
          </a:xfrm>
          <a:prstGeom prst="roundRect">
            <a:avLst>
              <a:gd fmla="val 8333" name="adj"/>
            </a:avLst>
          </a:prstGeom>
          <a:solidFill>
            <a:srgbClr val="548135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274320" y="1691640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#1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777240" y="1691640"/>
            <a:ext cx="777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1645920" y="169164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ewma_ledoit_wolf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3108960" y="1691640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20%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4434840" y="169164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12.5%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5212080" y="169164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1.187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5989320" y="169164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0.848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6766560" y="169164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-12.5%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274320" y="2194560"/>
            <a:ext cx="8595360" cy="438912"/>
          </a:xfrm>
          <a:prstGeom prst="roundRect">
            <a:avLst>
              <a:gd fmla="val 8333" name="adj"/>
            </a:avLst>
          </a:prstGeom>
          <a:solidFill>
            <a:srgbClr val="548135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274320" y="2194560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777240" y="2194560"/>
            <a:ext cx="777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1645920" y="219456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3108960" y="2194560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20%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4434840" y="219456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10.4%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5212080" y="219456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1.018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5989320" y="219456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0.833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6766560" y="219456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13.4%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274320" y="2697480"/>
            <a:ext cx="8595360" cy="438912"/>
          </a:xfrm>
          <a:prstGeom prst="roundRect">
            <a:avLst>
              <a:gd fmla="val 8333" name="adj"/>
            </a:avLst>
          </a:prstGeom>
          <a:solidFill>
            <a:srgbClr val="548135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274320" y="2697480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777240" y="2697480"/>
            <a:ext cx="777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1645920" y="269748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ewma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3108960" y="2697480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20%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4434840" y="269748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11.1%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5212080" y="269748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1.094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5989320" y="269748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0.826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8"/>
          <p:cNvSpPr/>
          <p:nvPr/>
        </p:nvSpPr>
        <p:spPr>
          <a:xfrm>
            <a:off x="6766560" y="269748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-14.7%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/>
          <p:nvPr/>
        </p:nvSpPr>
        <p:spPr>
          <a:xfrm>
            <a:off x="274320" y="3200400"/>
            <a:ext cx="8595360" cy="438912"/>
          </a:xfrm>
          <a:prstGeom prst="roundRect">
            <a:avLst>
              <a:gd fmla="val 8333" name="adj"/>
            </a:avLst>
          </a:prstGeom>
          <a:solidFill>
            <a:srgbClr val="548135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274320" y="3200400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777240" y="3200400"/>
            <a:ext cx="777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1645920" y="320040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ledoit_wolf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3108960" y="3200400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4434840" y="320040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10.5%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5212080" y="320040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1.019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5989320" y="320040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0.825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6766560" y="320040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-12.7%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274320" y="3703320"/>
            <a:ext cx="8595360" cy="438912"/>
          </a:xfrm>
          <a:prstGeom prst="roundRect">
            <a:avLst>
              <a:gd fmla="val 8333" name="adj"/>
            </a:avLst>
          </a:prstGeom>
          <a:solidFill>
            <a:srgbClr val="548135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274320" y="3703320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777240" y="3703320"/>
            <a:ext cx="777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1645920" y="370332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ledoit_wolf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3108960" y="3703320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threshold 10%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4434840" y="370332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10.2%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5212080" y="370332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0.994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5989320" y="370332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0.817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6766560" y="3703320"/>
            <a:ext cx="685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-12.5%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274320" y="4206240"/>
            <a:ext cx="8595360" cy="594360"/>
          </a:xfrm>
          <a:prstGeom prst="roundRect">
            <a:avLst>
              <a:gd fmla="val 12308" name="adj"/>
            </a:avLst>
          </a:prstGeom>
          <a:solidFill>
            <a:srgbClr val="385623">
              <a:alpha val="87843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411480" y="42519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📊  Average by Strategy:   HERC  →  CAGR 11.9%  |  Sharpe 1.135  |  Calmar 0.810     |     HRP  →  CAGR 10.3%  |  Sharpe 1.005  |  Calmar 0.802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A2B5F"/>
                </a:solidFill>
                <a:latin typeface="Cambria"/>
                <a:ea typeface="Cambria"/>
                <a:cs typeface="Cambria"/>
                <a:sym typeface="Cambria"/>
              </a:rPr>
              <a:t>Risk Contribution Analytics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9"/>
          <p:cNvSpPr/>
          <p:nvPr/>
        </p:nvSpPr>
        <p:spPr>
          <a:xfrm>
            <a:off x="274320" y="841248"/>
            <a:ext cx="8595360" cy="658368"/>
          </a:xfrm>
          <a:prstGeom prst="roundRect">
            <a:avLst>
              <a:gd fmla="val 11111" name="adj"/>
            </a:avLst>
          </a:prstGeom>
          <a:solidFill>
            <a:srgbClr val="FEF3C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9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Capital weight ≠ Risk weight   |   An asset with 5% capital can drive 25% of portfolio risk if it is volatile and highly correlated with the rest.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9"/>
          <p:cNvSpPr/>
          <p:nvPr/>
        </p:nvSpPr>
        <p:spPr>
          <a:xfrm>
            <a:off x="274320" y="1691640"/>
            <a:ext cx="2743200" cy="3017520"/>
          </a:xfrm>
          <a:prstGeom prst="roundRect">
            <a:avLst>
              <a:gd fmla="val 3333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365760" y="181051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Marginal Risk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Contribution (MRC)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365760" y="2542032"/>
            <a:ext cx="2560320" cy="475488"/>
          </a:xfrm>
          <a:prstGeom prst="rect">
            <a:avLst/>
          </a:prstGeom>
          <a:solidFill>
            <a:srgbClr val="002060">
              <a:alpha val="8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365760" y="2542032"/>
            <a:ext cx="2560320" cy="4754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9" name="Google Shape;439;p29"/>
          <p:cNvSpPr/>
          <p:nvPr/>
        </p:nvSpPr>
        <p:spPr>
          <a:xfrm>
            <a:off x="365760" y="3127248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How much portfolio risk changes if one asset's weight increases slightly.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3200400" y="1691640"/>
            <a:ext cx="2743200" cy="3017520"/>
          </a:xfrm>
          <a:prstGeom prst="roundRect">
            <a:avLst>
              <a:gd fmla="val 3333" name="adj"/>
            </a:avLst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3291840" y="181051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Risk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Contribution (TRC)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3291840" y="2542032"/>
            <a:ext cx="2560320" cy="475488"/>
          </a:xfrm>
          <a:prstGeom prst="rect">
            <a:avLst/>
          </a:prstGeom>
          <a:solidFill>
            <a:srgbClr val="385623">
              <a:alpha val="8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3291840" y="2542032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TRCi = wi × MRCi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9"/>
          <p:cNvSpPr/>
          <p:nvPr/>
        </p:nvSpPr>
        <p:spPr>
          <a:xfrm>
            <a:off x="3291840" y="3127248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actual amount of risk each asset contributes to the portfolio.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6126480" y="1691640"/>
            <a:ext cx="2743200" cy="3017520"/>
          </a:xfrm>
          <a:prstGeom prst="roundRect">
            <a:avLst>
              <a:gd fmla="val 333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9"/>
          <p:cNvSpPr/>
          <p:nvPr/>
        </p:nvSpPr>
        <p:spPr>
          <a:xfrm>
            <a:off x="6217920" y="181051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Percentage Risk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Contribution (PRC)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9"/>
          <p:cNvSpPr/>
          <p:nvPr/>
        </p:nvSpPr>
        <p:spPr>
          <a:xfrm>
            <a:off x="6217920" y="2542032"/>
            <a:ext cx="2560320" cy="475488"/>
          </a:xfrm>
          <a:prstGeom prst="rect">
            <a:avLst/>
          </a:prstGeom>
          <a:solidFill>
            <a:srgbClr val="78038F">
              <a:alpha val="8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6217920" y="2542032"/>
            <a:ext cx="2560320" cy="4754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9" name="Google Shape;449;p29"/>
          <p:cNvSpPr/>
          <p:nvPr/>
        </p:nvSpPr>
        <p:spPr>
          <a:xfrm>
            <a:off x="6217920" y="3127248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Each asset's share of total portfolio risk — enables true diversification audit.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FRM Learnings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What this project taught us as Financial Risk Management students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0"/>
          <p:cNvSpPr/>
          <p:nvPr/>
        </p:nvSpPr>
        <p:spPr>
          <a:xfrm>
            <a:off x="274320" y="1234440"/>
            <a:ext cx="2743200" cy="1645920"/>
          </a:xfrm>
          <a:prstGeom prst="roundRect">
            <a:avLst>
              <a:gd fmla="val 5556" name="adj"/>
            </a:avLst>
          </a:prstGeom>
          <a:solidFill>
            <a:srgbClr val="1E4E79">
              <a:alpha val="92156"/>
            </a:srgbClr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365760" y="13258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📈  Risk-Adjusted Return &gt; Raw Return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0"/>
          <p:cNvSpPr/>
          <p:nvPr/>
        </p:nvSpPr>
        <p:spPr>
          <a:xfrm>
            <a:off x="365760" y="18288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Highest CAGR is not the best strategy. Sharpe, Sortino, Calmar tell the real story.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3200400" y="1234440"/>
            <a:ext cx="2743200" cy="1645920"/>
          </a:xfrm>
          <a:prstGeom prst="roundRect">
            <a:avLst>
              <a:gd fmla="val 5556" name="adj"/>
            </a:avLst>
          </a:prstGeom>
          <a:solidFill>
            <a:srgbClr val="385623">
              <a:alpha val="92156"/>
            </a:srgbClr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0"/>
          <p:cNvSpPr/>
          <p:nvPr/>
        </p:nvSpPr>
        <p:spPr>
          <a:xfrm>
            <a:off x="3291840" y="13258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🔗  Diversification = Correlation, Not Count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3291840" y="18288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banking stocks are NOT 5 uncorrelated bets. True diversification depends on covariance.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/>
          <p:nvPr/>
        </p:nvSpPr>
        <p:spPr>
          <a:xfrm>
            <a:off x="6126480" y="1234440"/>
            <a:ext cx="2743200" cy="1645920"/>
          </a:xfrm>
          <a:prstGeom prst="roundRect">
            <a:avLst>
              <a:gd fmla="val 5556" name="adj"/>
            </a:avLst>
          </a:prstGeom>
          <a:solidFill>
            <a:srgbClr val="833C0B">
              <a:alpha val="92156"/>
            </a:srgbClr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6217920" y="13258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📊  Portfolio Risk ≠ Weighted Average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0"/>
          <p:cNvSpPr/>
          <p:nvPr/>
        </p:nvSpPr>
        <p:spPr>
          <a:xfrm>
            <a:off x="6217920" y="18288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same assets can produce very different portfolio risk depending on how they are combined.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0"/>
          <p:cNvSpPr/>
          <p:nvPr/>
        </p:nvSpPr>
        <p:spPr>
          <a:xfrm>
            <a:off x="274320" y="3063240"/>
            <a:ext cx="2743200" cy="1645920"/>
          </a:xfrm>
          <a:prstGeom prst="roundRect">
            <a:avLst>
              <a:gd fmla="val 5556" name="adj"/>
            </a:avLst>
          </a:prstGeom>
          <a:solidFill>
            <a:srgbClr val="7F6000">
              <a:alpha val="92156"/>
            </a:srgbClr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0"/>
          <p:cNvSpPr/>
          <p:nvPr/>
        </p:nvSpPr>
        <p:spPr>
          <a:xfrm>
            <a:off x="365760" y="31546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💰  Capital ≠ Risk Allocation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0"/>
          <p:cNvSpPr/>
          <p:nvPr/>
        </p:nvSpPr>
        <p:spPr>
          <a:xfrm>
            <a:off x="365760" y="36576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5% weight asset can drive 25% of portfolio risk. Always ask: where is the risk coming from?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0"/>
          <p:cNvSpPr/>
          <p:nvPr/>
        </p:nvSpPr>
        <p:spPr>
          <a:xfrm>
            <a:off x="3200400" y="3063240"/>
            <a:ext cx="2743200" cy="1645920"/>
          </a:xfrm>
          <a:prstGeom prst="roundRect">
            <a:avLst>
              <a:gd fmla="val 5556" name="adj"/>
            </a:avLst>
          </a:prstGeom>
          <a:solidFill>
            <a:srgbClr val="525252">
              <a:alpha val="92156"/>
            </a:srgbClr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3291840" y="31546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🔮  Expected Returns Are Noisy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3291840" y="36576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 forecasting error can dominate optimization. HRP/HERC rely on risk structure instead.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6126480" y="3063240"/>
            <a:ext cx="2743200" cy="1645920"/>
          </a:xfrm>
          <a:prstGeom prst="roundRect">
            <a:avLst>
              <a:gd fmla="val 5556" name="adj"/>
            </a:avLst>
          </a:prstGeom>
          <a:solidFill>
            <a:srgbClr val="78038F">
              <a:alpha val="92156"/>
            </a:srgbClr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6217920" y="315468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💸  Transaction Costs Change Rankings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6217920" y="365760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strategy that rebalances too often may lose its edge after friction. Turnover matters.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A2B5F"/>
                </a:solidFill>
                <a:latin typeface="Cambria"/>
                <a:ea typeface="Cambria"/>
                <a:cs typeface="Cambria"/>
                <a:sym typeface="Cambria"/>
              </a:rPr>
              <a:t>Streamlit Dashboard &amp; Outputs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1"/>
          <p:cNvSpPr/>
          <p:nvPr/>
        </p:nvSpPr>
        <p:spPr>
          <a:xfrm>
            <a:off x="274320" y="914400"/>
            <a:ext cx="4069080" cy="347472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1"/>
          <p:cNvSpPr/>
          <p:nvPr/>
        </p:nvSpPr>
        <p:spPr>
          <a:xfrm>
            <a:off x="411480" y="102412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⚙  Dashboard Controls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457200" y="1508760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Select asset universe &amp; override tickers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1"/>
          <p:cNvSpPr/>
          <p:nvPr/>
        </p:nvSpPr>
        <p:spPr>
          <a:xfrm>
            <a:off x="457200" y="19842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Choose date range (2020–2026)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1"/>
          <p:cNvSpPr/>
          <p:nvPr/>
        </p:nvSpPr>
        <p:spPr>
          <a:xfrm>
            <a:off x="457200" y="2459736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Select strategy &amp; covariance method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1"/>
          <p:cNvSpPr/>
          <p:nvPr/>
        </p:nvSpPr>
        <p:spPr>
          <a:xfrm>
            <a:off x="457200" y="2935224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Configure rebalance rules &amp; thresholds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1"/>
          <p:cNvSpPr/>
          <p:nvPr/>
        </p:nvSpPr>
        <p:spPr>
          <a:xfrm>
            <a:off x="457200" y="3410712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Enable/disable volatility targeting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1"/>
          <p:cNvSpPr/>
          <p:nvPr/>
        </p:nvSpPr>
        <p:spPr>
          <a:xfrm>
            <a:off x="457200" y="3886200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Run rolling walk-forward backtest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1"/>
          <p:cNvSpPr/>
          <p:nvPr/>
        </p:nvSpPr>
        <p:spPr>
          <a:xfrm>
            <a:off x="4663440" y="914400"/>
            <a:ext cx="4160520" cy="347472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4800600" y="10241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📊  Dashboard Outputs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1"/>
          <p:cNvSpPr/>
          <p:nvPr/>
        </p:nvSpPr>
        <p:spPr>
          <a:xfrm>
            <a:off x="4800600" y="150876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Growth &amp; drawdown curves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1"/>
          <p:cNvSpPr/>
          <p:nvPr/>
        </p:nvSpPr>
        <p:spPr>
          <a:xfrm>
            <a:off x="4800600" y="198424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Performance metric tables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1"/>
          <p:cNvSpPr/>
          <p:nvPr/>
        </p:nvSpPr>
        <p:spPr>
          <a:xfrm>
            <a:off x="4800600" y="2459736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Portfolio weights over time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4800600" y="2935224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Correlation heatmap &amp; dendrogram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4800600" y="341071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Turnover &amp; transaction cost summary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4800600" y="388620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▸  Benchmark comparison &amp; sensitivity table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274320" y="4498848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Code structure:  src/data/ · src/risk/ · src/portfolio/ · src/backtesting/ · src/analytics/ · src/experiments/ · src/dashboard/app.py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Built vs Future 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274320" y="841248"/>
            <a:ext cx="4160520" cy="4023360"/>
          </a:xfrm>
          <a:prstGeom prst="roundRect">
            <a:avLst>
              <a:gd fmla="val 2273" name="adj"/>
            </a:avLst>
          </a:prstGeom>
          <a:solidFill>
            <a:srgbClr val="065F46">
              <a:alpha val="8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411480" y="93268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 Implemented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457200" y="1463040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Yahoo Finance data acquisition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457200" y="1709928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Data cleaning &amp; return computation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457200" y="1956816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Covariance estimator factory (4 types)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457200" y="2203704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Hierarchical clustering &amp; dendrogram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457200" y="2450592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EW, IV, MV/Max-Sharpe, HRP, HERC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457200" y="2697480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Rolling walk-forward backtesting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457200" y="2944368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Calendar / threshold rebalancing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457200" y="3191256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Turnover &amp; transaction cost tracking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457200" y="3438144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Performance &amp; risk metrics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2"/>
          <p:cNvSpPr/>
          <p:nvPr/>
        </p:nvSpPr>
        <p:spPr>
          <a:xfrm>
            <a:off x="457200" y="3685032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Risk contribution analytics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2"/>
          <p:cNvSpPr/>
          <p:nvPr/>
        </p:nvSpPr>
        <p:spPr>
          <a:xfrm>
            <a:off x="457200" y="3931920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Volatility targeting overlay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457200" y="4178808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Experiment sensitivity framework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457200" y="4425696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•  Streamlit dashboard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2"/>
          <p:cNvSpPr/>
          <p:nvPr/>
        </p:nvSpPr>
        <p:spPr>
          <a:xfrm>
            <a:off x="4709160" y="841248"/>
            <a:ext cx="4160520" cy="4023360"/>
          </a:xfrm>
          <a:prstGeom prst="roundRect">
            <a:avLst>
              <a:gd fmla="val 2273" name="adj"/>
            </a:avLst>
          </a:prstGeom>
          <a:solidFill>
            <a:srgbClr val="7F1D1D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4846320" y="93268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🔭  Future Work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4846320" y="1463040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◦  Full Markov-switching regime detection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2"/>
          <p:cNvSpPr/>
          <p:nvPr/>
        </p:nvSpPr>
        <p:spPr>
          <a:xfrm>
            <a:off x="4846320" y="1810512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◦  NLP sentiment (RBI text, earnings calls)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4846320" y="2157984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◦  Dynamic allocation by macro/sentiment signals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4846320" y="2505456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◦  Combinatorial Purged Cross-Validation (CPCV)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4846320" y="2852928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◦  Production data governance &amp; catalog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4846320" y="3200400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◦  Liquidity / market impact / tax modeling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4846320" y="3547872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◦  Alpha Vantage integration (placeholder only)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4846320" y="3895344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E2E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◦  Full deployment + monitoring + auth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Adaptive Portfolio Risk Analytics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33"/>
          <p:cNvCxnSpPr/>
          <p:nvPr/>
        </p:nvCxnSpPr>
        <p:spPr>
          <a:xfrm>
            <a:off x="1371600" y="1261872"/>
            <a:ext cx="6400800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33"/>
          <p:cNvSpPr/>
          <p:nvPr/>
        </p:nvSpPr>
        <p:spPr>
          <a:xfrm>
            <a:off x="457200" y="1417320"/>
            <a:ext cx="8229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risk-aware portfolio research platform comparing hierarchical and baseline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allocation strategies using robust covariance estimation, rolling backtesting,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transaction-cost diagnostics, risk attribution, and volatility targeting.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Result: HERC + EWMA-LedoitWolf + threshold rebalancing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CAGR 12.5%  ·  Sharpe 1.187  ·  Calmar 0.848  ·  Max DD −14.7%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1005840" y="3657600"/>
            <a:ext cx="2194560" cy="1005840"/>
          </a:xfrm>
          <a:prstGeom prst="roundRect">
            <a:avLst>
              <a:gd fmla="val 9091" name="adj"/>
            </a:avLst>
          </a:prstGeom>
          <a:solidFill>
            <a:srgbClr val="0D9488">
              <a:alpha val="7019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1005840" y="373075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1005840" y="41148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Data → Metrics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 Dashboard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3566160" y="3657600"/>
            <a:ext cx="2194560" cy="1005840"/>
          </a:xfrm>
          <a:prstGeom prst="roundRect">
            <a:avLst>
              <a:gd fmla="val 9091" name="adj"/>
            </a:avLst>
          </a:prstGeom>
          <a:solidFill>
            <a:srgbClr val="0D9488">
              <a:alpha val="7019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3566160" y="373075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Realistic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3566160" y="41148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Costs · Lookback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· Benchmarks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3"/>
          <p:cNvSpPr/>
          <p:nvPr/>
        </p:nvSpPr>
        <p:spPr>
          <a:xfrm>
            <a:off x="6126480" y="3657600"/>
            <a:ext cx="2194560" cy="1005840"/>
          </a:xfrm>
          <a:prstGeom prst="roundRect">
            <a:avLst>
              <a:gd fmla="val 9091" name="adj"/>
            </a:avLst>
          </a:prstGeom>
          <a:solidFill>
            <a:srgbClr val="0D9488">
              <a:alpha val="7019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6126480" y="373075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Extensible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3"/>
          <p:cNvSpPr/>
          <p:nvPr/>
        </p:nvSpPr>
        <p:spPr>
          <a:xfrm>
            <a:off x="6126480" y="41148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NLP &amp; Regimes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are next steps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