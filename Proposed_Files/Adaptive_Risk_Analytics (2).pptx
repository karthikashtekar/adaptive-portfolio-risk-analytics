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38F"/>
    <a:srgbClr val="8F0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6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399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risk-aware portfolio analytics and backtesting platform for Indian assets. Emphasize it is a research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moves from naive stock-picking to a rigorous risk-aware portfolio construction and evaluation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universe uses 30 NSE-listed assets. Gold and silver ETFs provide diversification against equity drawdowns.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from left to right, top to bottom. Each stage feeds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Adjusted close is crucial. Without it, corporate actions cause artificial return spikes. Winsorization prevents outliers from distorting covariance.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standardizes covariance. Distance converts correlation for hierarchical clustering. Low correlation assets add genuine diversification.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covariance factory is a key design feature. Sensitivity experiments test all four estimators, demonstrating how model risk affects allocation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EW is the benchmark. HRP and HERC are the main novel strategies. HRP uses quasi-diagonalization; HERC traverses the explicit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difference: HRP uses quasi-diagonal ordering then recursive bisection by cluster variance. HERC traverses the explicit tree and equalizes sibling branch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Walk-forward testing is the gold standard for avoiding look-ahead bias. The model walks through history, updating weights using only past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Calmar is the default ranking metric because it balances growth and worst loss. Risk-adjusted metrics tell a more complete story than raw CAGR.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Volatility targeting is a key risk management layer. It separates WHAT to hold (HRP/HERC) from HOW MUCH to hold. During crises, it cuts risky exposure to 3% target vol.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HERC with EWMA+Ledoit-Wolf covariance and 20% threshold rebalancing is the top configuration. All experiments have volatility targeting 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contribution is the explanation layer. It answers not just 'which strategy performs better' but WHY a strategy's risk behaves differently from its capital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learnings connect financial theory to practical implementation. Portfolio management is about understanding, measuring, and controlling risk — not just maximizing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Streamlit dashboard ties everything together. Users can run experiments interactively and see ranked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framing: 'We have built the core portfolio construction, analytics, backtesting, and volatility-targeting platform. Regime detection and NLP are planned extensions.'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Key message: strong research infrastructure, defensible framing, clear future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Portfolio Risk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Allocation · Backtesting · Volatility Targeting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2971800"/>
            <a:ext cx="5486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Asset Universe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3246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6032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Allocation Strategies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3246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3246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6656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Experiments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 / Financial Market Studies  |  Research Prototype  |  2020–2025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Naive Investors Ask,</a:t>
            </a:r>
            <a:b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Traditional Mean Variance Methods Focus on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stock has the highest return?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09397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Buy the top performer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5877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Ignore risk and volatility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0815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benchmark comparison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7530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Highly unstable, sensitive to noisy expected returns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8348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Our Platform Asks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 assets behave together?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09397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Estimate covariance &amp; correlation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5877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diversified portfolios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081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Backtest with realistic costs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5753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vs benchmark (Equal Weight)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2286000"/>
            <a:ext cx="82296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60520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Asset Universe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assets across 8 sectors  |  Yahoo Finance  |  Adjusted Close Prices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D4ED8">
              <a:alpha val="70000"/>
            </a:srgbClr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3533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7556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HDFCBANK · ICICIBANK · SBIN · KOTAKBANK · AXISBANK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96312" y="13533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96312" y="17556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· INFY · WIPRO · HCLTECH · TECHM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45152" y="13533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Utilities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5152" y="17556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· ONGC · NTPC · POWERGRID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93992" y="13533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/ Consumer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93992" y="17556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HINDUNILVR · ITC · NESTLEIND · TATACONSUM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B2777">
              <a:alpha val="70000"/>
            </a:srgbClr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28620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26440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SUNPHARMA · DRREDDY · CIPLA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23160" y="2788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496312" y="28620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96312" y="326440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TATAMOTORS · MARUTI · M&amp;M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788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45152" y="28620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Telecom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5152" y="326440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· ULTRACEMCO · ASIANPAINT · BHARTIARTL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2788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93992" y="28620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93992" y="326440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GOLDBEES · SILVERBEES (ETFs)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94560" y="1463040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176272" y="126187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2316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610" y="12451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B5F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463040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720840" y="10058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2084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1920240"/>
            <a:ext cx="0" cy="475488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381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B5F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20840" y="23317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20840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788920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26060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23317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0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2788920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297680" y="26060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23160" y="23317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423160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94560" y="2788920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148840" y="26060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" y="23317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depends on the previous. Errors propagate — clean data is foundational.</a:t>
            </a:r>
            <a:endParaRPr lang="en-US" sz="11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96F20D07-3837-0398-9F56-E91BCC5B1D1E}"/>
              </a:ext>
            </a:extLst>
          </p:cNvPr>
          <p:cNvSpPr/>
          <p:nvPr/>
        </p:nvSpPr>
        <p:spPr>
          <a:xfrm rot="10800000">
            <a:off x="1997710" y="2597659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B5F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60520" cy="1783080"/>
          </a:xfrm>
          <a:prstGeom prst="roundRect">
            <a:avLst>
              <a:gd name="adj" fmla="val 5128"/>
            </a:avLst>
          </a:prstGeom>
          <a:solidFill>
            <a:schemeClr val="accent6">
              <a:lumMod val="75000"/>
              <a:alpha val="92000"/>
            </a:schemeClr>
          </a:solidFill>
          <a:ln w="10160">
            <a:solidFill>
              <a:schemeClr val="accent6">
                <a:lumMod val="50000"/>
              </a:scheme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Yahoo Finance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close prices (accounts for dividends, splits, bonuses). Date range: 2020–2025.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4160520" cy="1783080"/>
          </a:xfrm>
          <a:prstGeom prst="roundRect">
            <a:avLst>
              <a:gd name="adj" fmla="val 5128"/>
            </a:avLst>
          </a:prstGeom>
          <a:solidFill>
            <a:schemeClr val="accent2">
              <a:lumMod val="75000"/>
              <a:alpha val="92000"/>
            </a:schemeClr>
          </a:solidFill>
          <a:ln w="10160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Simple &amp; Log Returns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4846320" y="1490472"/>
                <a:ext cx="3886200" cy="11704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𝑟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11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11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𝑡</m:t>
                              </m:r>
                              <m: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sz="11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−1 ∣ </m:t>
                      </m:r>
                      <m:func>
                        <m:funcPr>
                          <m:ctrlPr>
                            <a:rPr lang="en-US" sz="11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100" i="0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sz="11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func>
                        <m:funcPr>
                          <m:ctrlPr>
                            <a:rPr lang="en-US" sz="11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100" i="0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1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 dirty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100" i="1" dirty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 dirty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100" i="1" dirty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100" i="1" dirty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 dirty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100" i="1" dirty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𝑡</m:t>
                                      </m:r>
                                      <m:r>
                                        <a:rPr lang="en-US" sz="1100" i="1" dirty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r>
                  <a:rPr lang="en-US" sz="11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	    </a:t>
                </a:r>
              </a:p>
              <a:p>
                <a:r>
                  <a:rPr lang="en-US" sz="11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	     Log returns are additive over time.</a:t>
                </a:r>
                <a:endParaRPr lang="en-US" sz="11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1490472"/>
                <a:ext cx="3886200" cy="1170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320040" y="2926080"/>
            <a:ext cx="4160520" cy="1783080"/>
          </a:xfrm>
          <a:prstGeom prst="roundRect">
            <a:avLst>
              <a:gd name="adj" fmla="val 5128"/>
            </a:avLst>
          </a:prstGeom>
          <a:solidFill>
            <a:schemeClr val="tx2">
              <a:lumMod val="75000"/>
              <a:alpha val="92000"/>
            </a:schemeClr>
          </a:solidFill>
          <a:ln w="1016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assets &gt; 5% missing  ·  Anomaly detection (|log return| &gt; 0.50)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· Winsorize returns [−20%, +20%]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926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7030A0">
              <a:alpha val="92000"/>
            </a:srgbClr>
          </a:solidFill>
          <a:ln w="10160">
            <a:solidFill>
              <a:srgbClr val="7803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Annualized Volatility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4846320" y="3456432"/>
                <a:ext cx="3886200" cy="11704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𝑎𝑛𝑛𝑢𝑎𝑙</m:t>
                        </m:r>
                      </m:sub>
                    </m:sSub>
                    <m:r>
                      <a:rPr lang="en-US" sz="11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 </m:t>
                    </m:r>
                    <m:r>
                      <a:rPr lang="en-US" sz="11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𝑠𝑡𝑑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𝑑𝑎𝑖𝑙𝑦</m:t>
                        </m:r>
                        <m: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𝑟𝑒𝑡𝑢𝑟𝑛𝑠</m:t>
                        </m:r>
                      </m:e>
                    </m:d>
                    <m:r>
                      <a:rPr lang="en-US" sz="11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× </m:t>
                    </m:r>
                    <m:rad>
                      <m:radPr>
                        <m:degHide m:val="on"/>
                        <m:ctrlP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radPr>
                      <m:deg/>
                      <m:e>
                        <m:r>
                          <a:rPr lang="en-US" sz="11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252</m:t>
                        </m:r>
                      </m:e>
                    </m:rad>
                  </m:oMath>
                </a14:m>
                <a:endParaRPr lang="en-US" sz="1100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endPara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Example: 1% daily vol → ~15.87% annual vol</a:t>
                </a:r>
                <a:endParaRPr lang="en-US" sz="1100" dirty="0"/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3456432"/>
                <a:ext cx="3886200" cy="11704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Measurement: Covariance, Correlation &amp; Distance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 Σij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560320" cy="548640"/>
          </a:xfrm>
          <a:prstGeom prst="rect">
            <a:avLst/>
          </a:prstGeom>
          <a:solidFill>
            <a:schemeClr val="accent5">
              <a:lumMod val="50000"/>
              <a:alpha val="85000"/>
            </a:scheme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365760" y="1572768"/>
                <a:ext cx="25603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Cov</m:t>
                          </m:r>
                        </m:fName>
                        <m:e>
                          <m:d>
                            <m:dPr>
                              <m:ctrlPr>
                                <a:rPr lang="en-I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572768"/>
                <a:ext cx="2560320" cy="54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365760" y="221284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co-movement of two asset returns in return units. Positive = move together.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9184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 ρij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560320" cy="548640"/>
          </a:xfrm>
          <a:prstGeom prst="rect">
            <a:avLst/>
          </a:prstGeom>
          <a:solidFill>
            <a:schemeClr val="accent6">
              <a:lumMod val="75000"/>
              <a:alpha val="85000"/>
            </a:scheme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3291840" y="1572768"/>
                <a:ext cx="25603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5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 </m:t>
                      </m:r>
                      <m:sSub>
                        <m:sSubPr>
                          <m:ctrlP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𝜌</m:t>
                          </m:r>
                        </m:e>
                        <m:sub>
                          <m: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𝑖𝑗</m:t>
                          </m:r>
                        </m:sub>
                      </m:sSub>
                      <m:r>
                        <a:rPr lang="en-US" sz="125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50" i="0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1572768"/>
                <a:ext cx="2560320" cy="5486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3291840" y="221284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between –1 and +1. Banking stocks: ρ ≈ 0.80. Gold vs equity: ρ ≈ 0.10.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 dij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1572768"/>
            <a:ext cx="2560320" cy="548640"/>
          </a:xfrm>
          <a:prstGeom prst="rect">
            <a:avLst/>
          </a:prstGeom>
          <a:solidFill>
            <a:srgbClr val="78038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6217920" y="1572768"/>
                <a:ext cx="25603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5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 </m:t>
                      </m:r>
                      <m:sSub>
                        <m:sSubPr>
                          <m:ctrlP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𝑑</m:t>
                          </m:r>
                        </m:e>
                        <m:sub>
                          <m: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𝑖𝑗</m:t>
                          </m:r>
                        </m:sub>
                      </m:sSub>
                      <m:r>
                        <a:rPr lang="en-US" sz="125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50" i="1" dirty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50" i="1" dirty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250" i="1" dirty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𝑖𝑗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5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1572768"/>
                <a:ext cx="2560320" cy="548640"/>
              </a:xfrm>
              <a:prstGeom prst="rect">
                <a:avLst/>
              </a:prstGeom>
              <a:blipFill>
                <a:blip r:embed="rId5"/>
                <a:stretch>
                  <a:fillRect b="-111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6217920" y="221284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correlation to a metric for hierarchical clustering. Low ρ → high distance.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34340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Portfolio risk ≠ weighted average of individual risks. Covariance between assets drives overall portfolio risk.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Estimation Engine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/>
              <p:nvPr/>
            </p:nvSpPr>
            <p:spPr>
              <a:xfrm>
                <a:off x="457200" y="749808"/>
                <a:ext cx="822960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300" dirty="0">
                    <a:solidFill>
                      <a:srgbClr val="2DD4B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Portfolio risk</a:t>
                </a:r>
                <a14:m>
                  <m:oMath xmlns:m="http://schemas.openxmlformats.org/officeDocument/2006/math">
                    <m:r>
                      <a:rPr lang="en-IN" sz="1300" b="0" i="0" dirty="0" smtClean="0">
                        <a:solidFill>
                          <a:srgbClr val="2DD4B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 </m:t>
                    </m:r>
                    <m:sSubSup>
                      <m:sSubSupPr>
                        <m:ctrlPr>
                          <a:rPr lang="en-US" sz="1300" i="1" dirty="0" smtClean="0">
                            <a:solidFill>
                              <a:srgbClr val="2DD4B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n-US" sz="1300" i="1" dirty="0" smtClean="0">
                            <a:solidFill>
                              <a:srgbClr val="2DD4B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300" i="1" dirty="0" smtClean="0">
                            <a:solidFill>
                              <a:srgbClr val="2DD4B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sub>
                      <m:sup>
                        <m:r>
                          <a:rPr lang="en-US" sz="1300" i="1" dirty="0" smtClean="0">
                            <a:solidFill>
                              <a:srgbClr val="2DD4B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p>
                    </m:sSubSup>
                    <m:r>
                      <a:rPr lang="en-US" sz="1300" i="1" dirty="0" smtClean="0">
                        <a:solidFill>
                          <a:srgbClr val="2DD4B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sSup>
                      <m:sSupPr>
                        <m:ctrlPr>
                          <a:rPr lang="en-US" sz="1300" i="1" dirty="0" smtClean="0">
                            <a:solidFill>
                              <a:srgbClr val="2DD4B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300" i="1" dirty="0">
                            <a:solidFill>
                              <a:srgbClr val="2DD4B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𝐰</m:t>
                        </m:r>
                      </m:e>
                      <m:sup>
                        <m:r>
                          <a:rPr lang="en-US" sz="1300" i="1" dirty="0">
                            <a:solidFill>
                              <a:srgbClr val="2DD4B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⊤</m:t>
                        </m:r>
                      </m:sup>
                    </m:sSup>
                    <m:r>
                      <m:rPr>
                        <m:sty m:val="p"/>
                      </m:rPr>
                      <a:rPr lang="en-US" sz="1300" i="0" dirty="0">
                        <a:solidFill>
                          <a:srgbClr val="2DD4B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Σ</m:t>
                    </m:r>
                    <m:r>
                      <a:rPr lang="en-US" sz="1300" i="1" dirty="0">
                        <a:solidFill>
                          <a:srgbClr val="2DD4B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𝐰</m:t>
                    </m:r>
                  </m:oMath>
                </a14:m>
                <a:r>
                  <a:rPr lang="en-US" sz="1300" dirty="0">
                    <a:solidFill>
                      <a:srgbClr val="2DD4B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—  The estimator of Σ matters significantly</a:t>
                </a:r>
                <a:endParaRPr lang="en-US" sz="1300" dirty="0"/>
              </a:p>
            </p:txBody>
          </p:sp>
        </mc:Choice>
        <mc:Fallback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49808"/>
                <a:ext cx="8229600" cy="320040"/>
              </a:xfrm>
              <a:prstGeom prst="rect">
                <a:avLst/>
              </a:prstGeom>
              <a:blipFill>
                <a:blip r:embed="rId3"/>
                <a:stretch>
                  <a:fillRect l="-74" b="-9434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274320" y="1234440"/>
            <a:ext cx="4114800" cy="1572768"/>
          </a:xfrm>
          <a:prstGeom prst="roundRect">
            <a:avLst>
              <a:gd name="adj" fmla="val 5814"/>
            </a:avLst>
          </a:prstGeom>
          <a:solidFill>
            <a:srgbClr val="1D4ED8">
              <a:alpha val="75000"/>
            </a:srgbClr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1307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Covariance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Simple, easy to understand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Noisy in small samples; sensitive to crises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4114800" cy="1572768"/>
          </a:xfrm>
          <a:prstGeom prst="roundRect">
            <a:avLst>
              <a:gd name="adj" fmla="val 5814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27448" y="1307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Ledoit-Wolf Shrinkage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27448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Pulls noisy estimates toward stable target (δ)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27448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Fixed shrinkage; no recency weighting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1572768"/>
          </a:xfrm>
          <a:prstGeom prst="roundRect">
            <a:avLst>
              <a:gd name="adj" fmla="val 5814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Recent observations weighted more (span=252)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regularization; can be noisy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71800"/>
            <a:ext cx="4114800" cy="1572768"/>
          </a:xfrm>
          <a:prstGeom prst="roundRect">
            <a:avLst>
              <a:gd name="adj" fmla="val 5814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27448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+ Ledoit-Wolf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7448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Combines recency with regularization — BEST OF BOTH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Slightly more complex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Portfolio Construction Strategies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33272"/>
            <a:ext cx="502920" cy="5029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 = 1/N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0698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benchmark · No estimation needed · Hard to overfit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1764792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1810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Volatility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30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(1/</a:t>
            </a:r>
            <a:r>
              <a:rPr lang="en-US" sz="100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σi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Σ(1/</a:t>
            </a:r>
            <a:r>
              <a:rPr lang="en-US" sz="100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σj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8745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Lower-volatility assets get more weight · Risk-aware without covariance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42616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569464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05840" y="26151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Mean-Variance / Max-Sharpe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35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wᵀμ / √(wᵀΣw)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6791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Theoretically powerful but sensitive to return estimates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472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337413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05840" y="34198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739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 by cluster variance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49040" y="348386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hierarchical clustering · Stable · No return forecasting needed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4178808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05840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544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 by branch risk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428853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Equalizes risk contribution across tree branches · More direct risk budgeting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HRP vs HERC — Hierarchical Allocation Deep Dive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 — Hierarchical Risk Parity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Estimate covariance matrix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Convert to correlation &amp; distance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340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hierarchical cluster tree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Quasi-diagonalize asset order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455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Recursively bisect clusters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Allocate inversely by cluster variance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411480" y="3895344"/>
                <a:ext cx="384048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𝑎𝑙𝑙𝑜</m:t>
                      </m:r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𝑐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𝐿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2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SupPr>
                            <m:e>
                              <m:r>
                                <a:rPr lang="en-US" sz="12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sz="12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ctrlP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𝐿</m:t>
                                  </m:r>
                                </m:sub>
                                <m:sup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en-US" sz="1200" dirty="0">
                              <a:solidFill>
                                <a:schemeClr val="bg1"/>
                              </a:solidFill>
                              <a:ea typeface="Courier New" pitchFamily="34" charset="-122"/>
                              <a:cs typeface="Courier New" pitchFamily="34" charset="-12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3895344"/>
                <a:ext cx="3840480" cy="292608"/>
              </a:xfrm>
              <a:prstGeom prst="rect">
                <a:avLst/>
              </a:prstGeom>
              <a:blipFill>
                <a:blip r:embed="rId3"/>
                <a:stretch>
                  <a:fillRect t="-18750" b="-35417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411480" y="4361688"/>
                <a:ext cx="384048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𝑎𝑙𝑙𝑜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𝑐</m:t>
                          </m:r>
                        </m:e>
                        <m:sub>
                          <m:r>
                            <a:rPr lang="en-I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𝑅</m:t>
                          </m:r>
                        </m:sub>
                      </m:sSub>
                      <m:r>
                        <a:rPr lang="en-US" sz="1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SupPr>
                            <m:e>
                              <m: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ctrlP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𝐿</m:t>
                                  </m:r>
                                </m:sub>
                                <m:sup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en-US" sz="1200" dirty="0">
                              <a:solidFill>
                                <a:schemeClr val="bg1"/>
                              </a:solidFill>
                              <a:ea typeface="Courier New" pitchFamily="34" charset="-122"/>
                              <a:cs typeface="Courier New" pitchFamily="34" charset="-12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  <a:ea typeface="Courier New" pitchFamily="34" charset="-122"/>
                  <a:cs typeface="Courier New" pitchFamily="34" charset="-120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361688"/>
                <a:ext cx="3840480" cy="292608"/>
              </a:xfrm>
              <a:prstGeom prst="rect">
                <a:avLst/>
              </a:prstGeom>
              <a:blipFill>
                <a:blip r:embed="rId4"/>
                <a:stretch>
                  <a:fillRect t="-20833" b="-35417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4709160" y="86868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987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 — Hierarchical ERC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Same covariance &amp; clustering steps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391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Traverse explicit linkage tree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At each node: compute branch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0449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Equalize risk contribution between sibling branches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4846320" y="3659605"/>
                <a:ext cx="384048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𝐿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𝑝𝑎𝑟𝑒𝑛𝑡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×</m:t>
                      </m:r>
                      <m:f>
                        <m:fPr>
                          <m:ctrlP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𝑅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1200" dirty="0">
                              <a:solidFill>
                                <a:schemeClr val="bg1"/>
                              </a:solidFill>
                              <a:ea typeface="Courier New" pitchFamily="34" charset="-122"/>
                              <a:cs typeface="Courier New" pitchFamily="34" charset="-12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3659605"/>
                <a:ext cx="3840480" cy="292608"/>
              </a:xfrm>
              <a:prstGeom prst="rect">
                <a:avLst/>
              </a:prstGeom>
              <a:blipFill>
                <a:blip r:embed="rId5"/>
                <a:stretch>
                  <a:fillRect t="-8333" b="-20833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8"/>
              <p:cNvSpPr/>
              <p:nvPr/>
            </p:nvSpPr>
            <p:spPr>
              <a:xfrm>
                <a:off x="4846320" y="4129957"/>
                <a:ext cx="384048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en-I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𝑅</m:t>
                          </m:r>
                        </m:sub>
                      </m:sSub>
                      <m:r>
                        <a:rPr lang="en-US" sz="1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𝑝𝑎𝑟𝑒𝑛𝑡</m:t>
                          </m:r>
                        </m:sub>
                      </m:sSub>
                      <m:r>
                        <a:rPr lang="en-US" sz="1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×</m:t>
                      </m:r>
                      <m:f>
                        <m:fPr>
                          <m:ctrlP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sz="12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𝑅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1200" dirty="0">
                              <a:solidFill>
                                <a:schemeClr val="bg1"/>
                              </a:solidFill>
                              <a:ea typeface="Courier New" pitchFamily="34" charset="-122"/>
                              <a:cs typeface="Courier New" pitchFamily="34" charset="-12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  <a:ea typeface="Courier New" pitchFamily="34" charset="-122"/>
                  <a:cs typeface="Courier New" pitchFamily="34" charset="-120"/>
                </a:endParaRPr>
              </a:p>
            </p:txBody>
          </p:sp>
        </mc:Choice>
        <mc:Fallback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4129957"/>
                <a:ext cx="3840480" cy="292608"/>
              </a:xfrm>
              <a:prstGeom prst="rect">
                <a:avLst/>
              </a:prstGeom>
              <a:blipFill>
                <a:blip r:embed="rId6"/>
                <a:stretch>
                  <a:fillRect t="-8333" b="-20833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Walk-Forward Backtesting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8412480" cy="5486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67804"/>
            <a:ext cx="3200400" cy="548640"/>
          </a:xfrm>
          <a:prstGeom prst="roundRect">
            <a:avLst>
              <a:gd name="adj" fmla="val 8333"/>
            </a:avLst>
          </a:prstGeom>
          <a:solidFill>
            <a:srgbClr val="1D4ED8">
              <a:alpha val="75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23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Window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(252 days)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86781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03320" y="88609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Period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apply weights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867805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23560" y="886093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Forward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" y="2176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 Look-Ahead Bias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61518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past data used to make decisions. Exposure at day t uses information up to day t−1.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4773168" y="2176272"/>
                <a:ext cx="38404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00" b="1" dirty="0">
                    <a:solidFill>
                      <a:srgbClr val="1A2B5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📐</a:t>
                </a:r>
                <a14:m>
                  <m:oMath xmlns:m="http://schemas.openxmlformats.org/officeDocument/2006/math">
                    <m:r>
                      <a:rPr lang="en-IN" sz="1300" b="1" i="0" dirty="0" smtClean="0">
                        <a:solidFill>
                          <a:srgbClr val="1A2B5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  </m:t>
                    </m:r>
                    <m:sSub>
                      <m:sSubPr>
                        <m:ctrlPr>
                          <a:rPr lang="en-US" sz="1300" b="1" i="1" dirty="0" smtClean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300" b="1" i="1" dirty="0" smtClean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𝒓</m:t>
                        </m:r>
                      </m:e>
                      <m:sub>
                        <m:r>
                          <a:rPr lang="en-US" sz="1300" b="1" i="1" dirty="0" err="1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  <m:r>
                          <a:rPr lang="en-US" sz="1300" b="1" i="1" dirty="0" err="1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</m:t>
                        </m:r>
                        <m:r>
                          <a:rPr lang="en-US" sz="1300" b="1" i="1" dirty="0" err="1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𝒕</m:t>
                        </m:r>
                      </m:sub>
                    </m:sSub>
                    <m:r>
                      <a:rPr lang="en-US" sz="1300" b="1" i="1" dirty="0">
                        <a:solidFill>
                          <a:srgbClr val="1A2B5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sSubSup>
                      <m:sSubSupPr>
                        <m:ctrlPr>
                          <a:rPr lang="en-US" sz="1300" b="1" i="1" dirty="0" smtClean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𝐰</m:t>
                        </m:r>
                      </m:e>
                      <m:sub>
                        <m: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𝐭</m:t>
                        </m:r>
                        <m: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−</m:t>
                        </m:r>
                        <m: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𝐫</m:t>
                        </m:r>
                      </m:e>
                      <m:sub>
                        <m:r>
                          <a:rPr lang="en-US" sz="1300" b="1" i="1" dirty="0">
                            <a:solidFill>
                              <a:srgbClr val="1A2B5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𝐭</m:t>
                        </m:r>
                      </m:sub>
                    </m:sSub>
                  </m:oMath>
                </a14:m>
                <a:endParaRPr lang="en-US" sz="1300" dirty="0"/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168" y="2176272"/>
                <a:ext cx="3840480" cy="384048"/>
              </a:xfrm>
              <a:prstGeom prst="rect">
                <a:avLst/>
              </a:prstGeom>
              <a:blipFill>
                <a:blip r:embed="rId3"/>
                <a:stretch>
                  <a:fillRect l="-2540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4773168" y="261518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return is previous weights dot current returns — decision always precedes outcome.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9768" y="3639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3 Rebalance Modes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" y="407822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Threshold (drift ≥ 3/5/10/20%) · Calendar-or-Threshold — tested in experiments.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5661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73168" y="3639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Gross vs Net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407822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 (15 bps default = 10 base + 5 slippage) deducted on net portfolio value.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Risk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1D4ED8">
              <a:alpha val="70000"/>
            </a:srgbClr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365760" y="1481328"/>
                <a:ext cx="25603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bHide m:val="on"/>
                                  <m:supHide m:val="on"/>
                                  <m:ctrlPr>
                                    <a:rPr lang="en-US" sz="950" i="1" dirty="0" smtClean="0">
                                      <a:solidFill>
                                        <a:srgbClr val="2DD4BF"/>
                                      </a:solidFill>
                                      <a:latin typeface="Cambria Math" panose="02040503050406030204" pitchFamily="18" charset="0"/>
                                      <a:cs typeface="Courier New" pitchFamily="34" charset="-12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d>
                                    <m:dPr>
                                      <m:ctrlPr>
                                        <a:rPr lang="en-US" sz="950" i="1" dirty="0" smtClean="0">
                                          <a:solidFill>
                                            <a:srgbClr val="2DD4BF"/>
                                          </a:solidFill>
                                          <a:latin typeface="Cambria Math" panose="02040503050406030204" pitchFamily="18" charset="0"/>
                                          <a:cs typeface="Courier New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950" i="1" dirty="0" smtClean="0">
                                          <a:solidFill>
                                            <a:srgbClr val="2DD4B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  <m:t>1+</m:t>
                                      </m:r>
                                      <m:r>
                                        <a:rPr lang="en-US" sz="950" i="1" dirty="0" smtClean="0">
                                          <a:solidFill>
                                            <a:srgbClr val="2DD4B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  <m:t>𝑟𝑡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252</m:t>
                              </m:r>
                              <m:r>
                                <m:rPr>
                                  <m:lit/>
                                </m:rP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/</m:t>
                              </m:r>
                              <m: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en-US" sz="950" i="1" dirty="0" smtClean="0">
                          <a:solidFill>
                            <a:srgbClr val="2DD4B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−1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481328"/>
                <a:ext cx="2560320" cy="384048"/>
              </a:xfrm>
              <a:prstGeom prst="rect">
                <a:avLst/>
              </a:prstGeom>
              <a:blipFill>
                <a:blip r:embed="rId3"/>
                <a:stretch>
                  <a:fillRect t="-126984" b="-196825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365760" y="1947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compound growth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3291840" y="1481328"/>
                <a:ext cx="25603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dPr>
                        <m:e>
                          <m: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𝑅𝑝</m:t>
                          </m:r>
                          <m: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−</m:t>
                          </m:r>
                          <m: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𝑅𝑓</m:t>
                          </m:r>
                        </m:e>
                      </m:d>
                      <m:r>
                        <m:rPr>
                          <m:lit/>
                        </m:rPr>
                        <a:rPr lang="en-US" sz="950" i="1" dirty="0" smtClean="0">
                          <a:solidFill>
                            <a:srgbClr val="2DD4B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/</m:t>
                      </m:r>
                      <m:r>
                        <a:rPr lang="en-US" sz="950" i="1" dirty="0" err="1" smtClean="0">
                          <a:solidFill>
                            <a:srgbClr val="2DD4B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𝜎</m:t>
                      </m:r>
                      <m:r>
                        <a:rPr lang="en-US" sz="950" i="1" dirty="0" err="1" smtClean="0">
                          <a:solidFill>
                            <a:srgbClr val="2DD4B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𝑝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1481328"/>
                <a:ext cx="2560320" cy="384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3291840" y="1947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total risk (higher = better)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 return / Downside deviation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0" y="1947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only downside volatility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365760" y="3401568"/>
                <a:ext cx="25603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50" i="1" dirty="0" smtClean="0">
                          <a:solidFill>
                            <a:srgbClr val="2DD4B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𝐶𝐴𝐺𝑅</m:t>
                      </m:r>
                      <m:r>
                        <m:rPr>
                          <m:lit/>
                        </m:rPr>
                        <a:rPr lang="en-US" sz="950" i="1" dirty="0" smtClean="0">
                          <a:solidFill>
                            <a:srgbClr val="2DD4B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/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dPr>
                        <m:e>
                          <m: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𝑀𝑎𝑥𝐷𝑟𝑎𝑤𝑑𝑜𝑤𝑛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401568"/>
                <a:ext cx="2560320" cy="384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365760" y="38679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worst peak-to-trough loss (default ranking metric)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918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3291840" y="3401568"/>
                <a:ext cx="25603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50" i="1" dirty="0" smtClean="0">
                          <a:solidFill>
                            <a:srgbClr val="2DD4B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𝑚𝑖</m:t>
                      </m:r>
                      <m:func>
                        <m:funcPr>
                          <m:ctrlP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uncPr>
                        <m:fName>
                          <m:r>
                            <a:rPr lang="en-US" sz="950" i="1" dirty="0" smtClean="0">
                              <a:solidFill>
                                <a:srgbClr val="2DD4B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𝑛</m:t>
                          </m:r>
                        </m:fName>
                        <m:e>
                          <m:d>
                            <m:dPr>
                              <m:ctrlP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𝑉𝑡</m:t>
                              </m:r>
                              <m:r>
                                <m:rPr>
                                  <m:lit/>
                                </m:rP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/</m:t>
                              </m:r>
                              <m: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𝑚𝑎</m:t>
                              </m:r>
                              <m:func>
                                <m:funcPr>
                                  <m:ctrlPr>
                                    <a:rPr lang="en-US" sz="950" i="1" dirty="0" smtClean="0">
                                      <a:solidFill>
                                        <a:srgbClr val="2DD4B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950" i="1" dirty="0" smtClean="0">
                                      <a:solidFill>
                                        <a:srgbClr val="2DD4B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𝑥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950" i="1" dirty="0" smtClean="0">
                                          <a:solidFill>
                                            <a:srgbClr val="2DD4B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950" i="1" dirty="0" smtClean="0">
                                          <a:solidFill>
                                            <a:srgbClr val="2DD4B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  <m:t>𝑉𝑠</m:t>
                                      </m:r>
                                      <m:r>
                                        <a:rPr lang="en-US" sz="950" i="1" dirty="0" smtClean="0">
                                          <a:solidFill>
                                            <a:srgbClr val="2DD4B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  <m:t>≤</m:t>
                                      </m:r>
                                      <m:r>
                                        <a:rPr lang="en-US" sz="950" i="1" dirty="0" smtClean="0">
                                          <a:solidFill>
                                            <a:srgbClr val="2DD4B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950" i="1" dirty="0" smtClean="0">
                                  <a:solidFill>
                                    <a:srgbClr val="2DD4B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3401568"/>
                <a:ext cx="2560320" cy="3840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/>
          <p:cNvSpPr/>
          <p:nvPr/>
        </p:nvSpPr>
        <p:spPr>
          <a:xfrm>
            <a:off x="3291840" y="38679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peak-to-trough portfolio decline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DB2777">
              <a:alpha val="70000"/>
            </a:srgbClr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CVaR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3401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5th pctile / E[r | r ≤ VaR]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38679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risk: threshold and expected shortfall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Targeting Overlay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how much of the portfolio goes into the risky strategy vs a defensive sleeve (LIQUIDBEES / Synthetic Risk-Free).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Formula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411480" y="2697480"/>
                <a:ext cx="4297680" cy="6217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solidFill>
                            <a:srgbClr val="64748B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𝑒𝑡</m:t>
                      </m:r>
                      <m:r>
                        <a:rPr lang="en-US" sz="1100" i="1" dirty="0" smtClean="0">
                          <a:solidFill>
                            <a:srgbClr val="64748B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= </m:t>
                      </m:r>
                      <m:r>
                        <a:rPr lang="en-US" sz="1100" i="1" dirty="0" smtClean="0">
                          <a:solidFill>
                            <a:srgbClr val="64748B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𝑐𝑙𝑖𝑝</m:t>
                      </m:r>
                      <m:d>
                        <m:dPr>
                          <m:ctrlPr>
                            <a:rPr lang="en-US" sz="1100" i="1" dirty="0" smtClean="0">
                              <a:solidFill>
                                <a:srgbClr val="64748B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 dirty="0" smtClean="0">
                                  <a:solidFill>
                                    <a:srgbClr val="64748B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1100" i="1" dirty="0" smtClean="0">
                                  <a:solidFill>
                                    <a:srgbClr val="64748B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𝑡𝑎𝑟𝑔𝑒</m:t>
                              </m:r>
                              <m:sSub>
                                <m:sSubPr>
                                  <m:ctrlPr>
                                    <a:rPr lang="en-US" sz="1100" i="1" dirty="0" smtClean="0">
                                      <a:solidFill>
                                        <a:srgbClr val="64748B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 dirty="0" smtClean="0">
                                      <a:solidFill>
                                        <a:srgbClr val="64748B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100" i="1" dirty="0" smtClean="0">
                                      <a:solidFill>
                                        <a:srgbClr val="64748B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𝑣𝑜𝑙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100" i="1" dirty="0">
                                  <a:solidFill>
                                    <a:srgbClr val="64748B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𝑟𝑒𝑎𝑙𝑖𝑧𝑒</m:t>
                              </m:r>
                              <m:sSub>
                                <m:sSubPr>
                                  <m:ctrlPr>
                                    <a:rPr lang="en-US" sz="1100" i="1" dirty="0">
                                      <a:solidFill>
                                        <a:srgbClr val="64748B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 dirty="0">
                                      <a:solidFill>
                                        <a:srgbClr val="64748B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100" i="1" dirty="0">
                                      <a:solidFill>
                                        <a:srgbClr val="64748B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𝑣𝑜𝑙</m:t>
                                  </m:r>
                                </m:sub>
                              </m:sSub>
                              <m:r>
                                <a:rPr lang="en-US" sz="1100" i="1" dirty="0">
                                  <a:solidFill>
                                    <a:srgbClr val="64748B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, </m:t>
                              </m:r>
                              <m:r>
                                <a:rPr lang="en-US" sz="1100" i="1" dirty="0">
                                  <a:solidFill>
                                    <a:srgbClr val="64748B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𝑒𝑚𝑖𝑛</m:t>
                              </m:r>
                              <m:r>
                                <a:rPr lang="en-US" sz="1100" i="1" dirty="0">
                                  <a:solidFill>
                                    <a:srgbClr val="64748B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, </m:t>
                              </m:r>
                              <m:r>
                                <a:rPr lang="en-US" sz="1100" i="1" dirty="0">
                                  <a:solidFill>
                                    <a:srgbClr val="64748B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𝑒𝑚𝑎𝑥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If realized vol = 20%, target = 10% → exposure = 50%</a:t>
                </a:r>
                <a:endParaRPr lang="en-US" sz="11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697480"/>
                <a:ext cx="4297680" cy="621792"/>
              </a:xfrm>
              <a:prstGeom prst="rect">
                <a:avLst/>
              </a:prstGeom>
              <a:blipFill>
                <a:blip r:embed="rId3"/>
                <a:stretch>
                  <a:fillRect l="-2128" t="-4902" b="-2156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274320" y="352044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35661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Look-Ahead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volatility is lagged by 1 day. Exposure at day t uses only information through t−1.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289797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1A2B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57800" y="1381237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Regime Targets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884157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1884157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35240" y="1884157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249917"/>
            <a:ext cx="3429000" cy="475488"/>
          </a:xfrm>
          <a:prstGeom prst="roundRect">
            <a:avLst>
              <a:gd name="adj" fmla="val 9615"/>
            </a:avLst>
          </a:prstGeom>
          <a:solidFill>
            <a:srgbClr val="10B981">
              <a:alpha val="45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257800" y="2249917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249917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40th pct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2249917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2816845"/>
            <a:ext cx="3429000" cy="475488"/>
          </a:xfrm>
          <a:prstGeom prst="roundRect">
            <a:avLst>
              <a:gd name="adj" fmla="val 9615"/>
            </a:avLst>
          </a:prstGeom>
          <a:solidFill>
            <a:srgbClr val="0D9488">
              <a:alpha val="4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57800" y="2816845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2816845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40–80th pct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2816845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57800" y="3383773"/>
            <a:ext cx="3429000" cy="475488"/>
          </a:xfrm>
          <a:prstGeom prst="roundRect">
            <a:avLst>
              <a:gd name="adj" fmla="val 9615"/>
            </a:avLst>
          </a:prstGeom>
          <a:solidFill>
            <a:srgbClr val="F59E0B">
              <a:alpha val="4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57800" y="3383773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383773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80–95th pct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3383773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3950701"/>
            <a:ext cx="3429000" cy="475488"/>
          </a:xfrm>
          <a:prstGeom prst="roundRect">
            <a:avLst>
              <a:gd name="adj" fmla="val 9615"/>
            </a:avLst>
          </a:prstGeom>
          <a:solidFill>
            <a:srgbClr val="EF4444">
              <a:alpha val="45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257800" y="3950701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950701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95th pct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3950701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02936" y="473708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regimes using lagged realised volatility percentile — not full Markov-switching (planned future work)</a:t>
            </a:r>
            <a:endParaRPr lang="en-US" sz="9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E364C16-33B2-6A3A-C333-287F816E9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09" y="455755"/>
            <a:ext cx="3460622" cy="75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Experiment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Calmar Ratio  |  All experiments: Vol Targeting ON  |  10 bps base + 5 bps slippage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Method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234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89320" y="1234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234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8595360" cy="438912"/>
          </a:xfrm>
          <a:prstGeom prst="roundRect">
            <a:avLst>
              <a:gd name="adj" fmla="val 8333"/>
            </a:avLst>
          </a:prstGeom>
          <a:solidFill>
            <a:schemeClr val="accent6">
              <a:lumMod val="75000"/>
            </a:scheme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169164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45920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ewma_ledoit_wolf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16916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20%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169164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169164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169164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-14.7%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194560"/>
            <a:ext cx="8595360" cy="438912"/>
          </a:xfrm>
          <a:prstGeom prst="roundRect">
            <a:avLst>
              <a:gd name="adj" fmla="val 8333"/>
            </a:avLst>
          </a:prstGeom>
          <a:solidFill>
            <a:schemeClr val="accent6">
              <a:lumMod val="75000"/>
            </a:scheme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21945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21945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45920" y="21945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08960" y="21945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20%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34840" y="219456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0" y="219456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219456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0" y="219456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-12.5%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2697480"/>
            <a:ext cx="8595360" cy="438912"/>
          </a:xfrm>
          <a:prstGeom prst="roundRect">
            <a:avLst>
              <a:gd name="adj" fmla="val 8333"/>
            </a:avLst>
          </a:prstGeom>
          <a:solidFill>
            <a:schemeClr val="accent6">
              <a:lumMod val="75000"/>
            </a:scheme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26974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26974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45920" y="2697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108960" y="26974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20%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34840" y="269748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12080" y="269748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89320" y="269748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66560" y="269748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-13.4%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200400"/>
            <a:ext cx="8595360" cy="438912"/>
          </a:xfrm>
          <a:prstGeom prst="roundRect">
            <a:avLst>
              <a:gd name="adj" fmla="val 8333"/>
            </a:avLst>
          </a:prstGeom>
          <a:solidFill>
            <a:schemeClr val="accent6">
              <a:lumMod val="75000"/>
            </a:scheme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74320" y="320040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724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645920" y="3200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ledoit_wolf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108960" y="32004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5%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34840" y="320040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12080" y="320040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1.019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989320" y="320040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66560" y="320040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-12.7%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3703320"/>
            <a:ext cx="8595360" cy="438912"/>
          </a:xfrm>
          <a:prstGeom prst="roundRect">
            <a:avLst>
              <a:gd name="adj" fmla="val 8333"/>
            </a:avLst>
          </a:prstGeom>
          <a:solidFill>
            <a:schemeClr val="accent6">
              <a:lumMod val="75000"/>
            </a:schemeClr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74320" y="37033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77240" y="37033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645920" y="3703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ledoit_wolf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108960" y="370332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10%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434840" y="37033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212080" y="37033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989320" y="37033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0.817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766560" y="37033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-12.5%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4206240"/>
            <a:ext cx="8595360" cy="594360"/>
          </a:xfrm>
          <a:prstGeom prst="roundRect">
            <a:avLst>
              <a:gd name="adj" fmla="val 12308"/>
            </a:avLst>
          </a:prstGeom>
          <a:solidFill>
            <a:schemeClr val="accent6">
              <a:lumMod val="50000"/>
              <a:alpha val="88000"/>
            </a:scheme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11480" y="4251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Average by Strategy:   HERC  →  CAGR 11.9%  |  Sharpe 1.135  |  Calmar 0.810     |     HRP  →  CAGR 10.3%  |  Sharpe 1.005  |  Calmar 0.802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Contribution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Capital weight ≠ Risk weight   |   An asset with 5% capital can drive 25% of portfolio risk if it is volatile and highly correlated with the rest.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810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(MRC)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42032"/>
            <a:ext cx="2560320" cy="475488"/>
          </a:xfrm>
          <a:prstGeom prst="rect">
            <a:avLst/>
          </a:prstGeom>
          <a:solidFill>
            <a:srgbClr val="002060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365760" y="2542032"/>
                <a:ext cx="25603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5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𝑀𝑅𝐶</m:t>
                      </m:r>
                      <m:r>
                        <a:rPr lang="en-US" sz="115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sz="11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Σ</m:t>
                          </m:r>
                          <m:r>
                            <a:rPr lang="en-US" sz="11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𝑤</m:t>
                          </m:r>
                        </m:num>
                        <m:den>
                          <m:r>
                            <a:rPr lang="en-US" sz="11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𝜎</m:t>
                          </m:r>
                          <m:r>
                            <a:rPr lang="en-US" sz="11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542032"/>
                <a:ext cx="2560320" cy="475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365760" y="31272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portfolio risk changes if one asset's weight increases slightly.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810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(TRC)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542032"/>
            <a:ext cx="2560320" cy="475488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25420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TRCi = wi × MRCi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31272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amount of risk each asset contributes to the portfolio.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1810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(PRC)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542032"/>
            <a:ext cx="2560320" cy="475488"/>
          </a:xfrm>
          <a:prstGeom prst="rect">
            <a:avLst/>
          </a:prstGeom>
          <a:solidFill>
            <a:srgbClr val="78038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6"/>
              <p:cNvSpPr/>
              <p:nvPr/>
            </p:nvSpPr>
            <p:spPr>
              <a:xfrm>
                <a:off x="6217920" y="2542032"/>
                <a:ext cx="25603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5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𝑃𝑅𝐶𝑖</m:t>
                      </m:r>
                      <m:r>
                        <a:rPr lang="en-US" sz="115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sz="115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r>
                            <a:rPr lang="en-US" sz="11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𝑇𝑅𝐶𝑖</m:t>
                          </m:r>
                        </m:num>
                        <m:den>
                          <m:r>
                            <a:rPr lang="en-US" sz="11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𝜎</m:t>
                          </m:r>
                          <m:r>
                            <a:rPr lang="en-US" sz="115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542032"/>
                <a:ext cx="2560320" cy="4754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17"/>
          <p:cNvSpPr/>
          <p:nvPr/>
        </p:nvSpPr>
        <p:spPr>
          <a:xfrm>
            <a:off x="6217920" y="31272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asset's share of total portfolio risk — enables true diversification audit.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FRM Learnings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 us as Financial Risk Management students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1645920"/>
          </a:xfrm>
          <a:prstGeom prst="roundRect">
            <a:avLst>
              <a:gd name="adj" fmla="val 5556"/>
            </a:avLst>
          </a:prstGeom>
          <a:solidFill>
            <a:schemeClr val="accent5">
              <a:lumMod val="50000"/>
              <a:alpha val="92000"/>
            </a:schemeClr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Risk-Adjusted Return &gt; Raw Return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CAGR is not the best strategy. Sharpe, Sortino, Calmar tell the real story.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234440"/>
            <a:ext cx="2743200" cy="1645920"/>
          </a:xfrm>
          <a:prstGeom prst="roundRect">
            <a:avLst>
              <a:gd name="adj" fmla="val 5556"/>
            </a:avLst>
          </a:prstGeom>
          <a:solidFill>
            <a:schemeClr val="accent6">
              <a:lumMod val="50000"/>
              <a:alpha val="92000"/>
            </a:schemeClr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1325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Diversification = Correlation, Not 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banking stocks are NOT 5 uncorrelated bets. True diversification depends on covariance.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743200" cy="1645920"/>
          </a:xfrm>
          <a:prstGeom prst="roundRect">
            <a:avLst>
              <a:gd name="adj" fmla="val 5556"/>
            </a:avLst>
          </a:prstGeom>
          <a:solidFill>
            <a:schemeClr val="accent2">
              <a:lumMod val="50000"/>
              <a:alpha val="92000"/>
            </a:schemeClr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325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Portfolio Risk ≠ Weighted Average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assets can produce very different portfolio risk depending on how they are combined.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2743200" cy="1645920"/>
          </a:xfrm>
          <a:prstGeom prst="roundRect">
            <a:avLst>
              <a:gd name="adj" fmla="val 5556"/>
            </a:avLst>
          </a:prstGeom>
          <a:solidFill>
            <a:schemeClr val="accent4">
              <a:lumMod val="50000"/>
              <a:alpha val="92000"/>
            </a:schemeClr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Capital ≠ Risk Allocation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weight asset can drive 25% of portfolio risk. Always ask: where is the risk coming from?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063240"/>
            <a:ext cx="2743200" cy="1645920"/>
          </a:xfrm>
          <a:prstGeom prst="roundRect">
            <a:avLst>
              <a:gd name="adj" fmla="val 5556"/>
            </a:avLst>
          </a:prstGeom>
          <a:solidFill>
            <a:schemeClr val="accent3">
              <a:lumMod val="50000"/>
              <a:alpha val="92000"/>
            </a:schemeClr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91840" y="3154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Expected Returns Are Noisy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6576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forecasting error can dominate optimization. HRP/HERC rely on risk structure instead.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0632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78038F">
              <a:alpha val="92000"/>
            </a:srgbClr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Transaction Costs Change Rankings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that rebalances too often may lose its edge after friction. Turnover matters.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 &amp; Outputs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0690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Dashboard Controls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 asset universe &amp; override tickers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98424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Choose date range (2010–2026)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45973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 strategy &amp; covariance method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93522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Configure rebalance rules &amp; thresholds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41071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Enable/disable volatility targeting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 rolling walk-forward backtest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Outputs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Growth &amp; drawdown curves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19842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 metric tables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245973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Portfolio weights over 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93522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Correlation heatmap &amp; dendrogram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3410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Turnover &amp; transaction cost summary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8862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Benchmark comparison &amp; sensitivity table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" y="44988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structure:  src/data/ · src/risk/ · src/portfolio/ · src/backtesting/ · src/analytics/ · src/experiments/ · src/dashboard/app.py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vs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065F46">
              <a:alpha val="8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Yahoo Finance data acquisition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cleaning &amp; return computation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Covariance estimator factory (4 types)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0370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Hierarchical clustering &amp; dendrogram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EW, IV, MV/Max-Sharpe, HRP, HERC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Rolling walk-forward backtesting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Calendar / threshold rebalancing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Turnover &amp; transaction cost tracking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Performance &amp; risk metrics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850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contribution analytics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Volatility targeting overlay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Experiment sensitivity framework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4256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Streamlit dashboard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841248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7F1D1D">
              <a:alpha val="8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9326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Work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4630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Full Markov-switching regime detection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8105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NLP sentiment (RBI text, earnings calls)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1579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Dynamic allocation by macro/sentiment signals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5054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Combinatorial Purged Cross-Validation (CPCV)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85292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Production data governance &amp; catalog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32004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Liquidity / market impact / tax modeling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5478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Alpha Vantage integration (placeholder only)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8953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Full deployment + monitoring + auth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Portfolio Risk Analytics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1261872"/>
            <a:ext cx="6400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risk-aware portfolio research platform comparing hierarchical and baseline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strategies using robust covariance estimation, rolling backtesting,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transaction-cost diagnostics, risk attribution, and volatility targeting.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Result: HERC + EWMA-LedoitWolf + threshold rebalancing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12.5%  ·  Sharpe 1.187  ·  Calmar 0.848  ·  Max DD −14.7%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6576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Metrics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36576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0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· Lookback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Benchmarks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Regimes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next steps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2178</Words>
  <Application>Microsoft Office PowerPoint</Application>
  <PresentationFormat>On-screen Show (16:9)</PresentationFormat>
  <Paragraphs>366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Portfolio Risk Analytics</dc:title>
  <dc:subject>PptxGenJS Presentation</dc:subject>
  <dc:creator>PptxGenJS</dc:creator>
  <cp:lastModifiedBy>Karthik Ashtekar</cp:lastModifiedBy>
  <cp:revision>6</cp:revision>
  <dcterms:created xsi:type="dcterms:W3CDTF">2026-06-15T04:12:00Z</dcterms:created>
  <dcterms:modified xsi:type="dcterms:W3CDTF">2026-06-15T07:09:47Z</dcterms:modified>
</cp:coreProperties>
</file>